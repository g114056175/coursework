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6" r:id="rId10"/>
    <p:sldId id="267"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柏叡 潘" userId="02e63cba6dc8f507" providerId="LiveId" clId="{FDA166C7-AB03-468E-BC95-717DCAB95222}"/>
    <pc:docChg chg="undo custSel addSld delSld modSld sldOrd">
      <pc:chgData name="柏叡 潘" userId="02e63cba6dc8f507" providerId="LiveId" clId="{FDA166C7-AB03-468E-BC95-717DCAB95222}" dt="2026-04-19T05:14:35.268" v="385" actId="1076"/>
      <pc:docMkLst>
        <pc:docMk/>
      </pc:docMkLst>
      <pc:sldChg chg="addSp delSp modSp mod ord">
        <pc:chgData name="柏叡 潘" userId="02e63cba6dc8f507" providerId="LiveId" clId="{FDA166C7-AB03-468E-BC95-717DCAB95222}" dt="2026-04-19T04:44:23.907" v="189" actId="20577"/>
        <pc:sldMkLst>
          <pc:docMk/>
          <pc:sldMk cId="3306398972" sldId="256"/>
        </pc:sldMkLst>
        <pc:spChg chg="mod">
          <ac:chgData name="柏叡 潘" userId="02e63cba6dc8f507" providerId="LiveId" clId="{FDA166C7-AB03-468E-BC95-717DCAB95222}" dt="2026-04-19T04:29:45.809" v="26" actId="27636"/>
          <ac:spMkLst>
            <pc:docMk/>
            <pc:sldMk cId="3306398972" sldId="256"/>
            <ac:spMk id="2" creationId="{9142BB32-1CC8-4DE0-ADE3-08E528B9A2D8}"/>
          </ac:spMkLst>
        </pc:spChg>
        <pc:spChg chg="mod">
          <ac:chgData name="柏叡 潘" userId="02e63cba6dc8f507" providerId="LiveId" clId="{FDA166C7-AB03-468E-BC95-717DCAB95222}" dt="2026-04-19T04:44:23.907" v="189" actId="20577"/>
          <ac:spMkLst>
            <pc:docMk/>
            <pc:sldMk cId="3306398972" sldId="256"/>
            <ac:spMk id="3" creationId="{A52C1C19-12A9-4F33-9CD9-D52FF505A3D7}"/>
          </ac:spMkLst>
        </pc:spChg>
        <pc:picChg chg="add del mod">
          <ac:chgData name="柏叡 潘" userId="02e63cba6dc8f507" providerId="LiveId" clId="{FDA166C7-AB03-468E-BC95-717DCAB95222}" dt="2026-04-19T04:05:24.848" v="6" actId="478"/>
          <ac:picMkLst>
            <pc:docMk/>
            <pc:sldMk cId="3306398972" sldId="256"/>
            <ac:picMk id="4" creationId="{29DAD980-8CC9-46D1-9CDA-FD3479AB9BCE}"/>
          </ac:picMkLst>
        </pc:picChg>
        <pc:picChg chg="add mod">
          <ac:chgData name="柏叡 潘" userId="02e63cba6dc8f507" providerId="LiveId" clId="{FDA166C7-AB03-468E-BC95-717DCAB95222}" dt="2026-04-19T04:40:22.476" v="126" actId="1076"/>
          <ac:picMkLst>
            <pc:docMk/>
            <pc:sldMk cId="3306398972" sldId="256"/>
            <ac:picMk id="5" creationId="{1F25AFBB-20C0-42F7-9B34-9353E2BFD912}"/>
          </ac:picMkLst>
        </pc:picChg>
      </pc:sldChg>
      <pc:sldChg chg="add">
        <pc:chgData name="柏叡 潘" userId="02e63cba6dc8f507" providerId="LiveId" clId="{FDA166C7-AB03-468E-BC95-717DCAB95222}" dt="2026-04-19T04:02:40.039" v="0"/>
        <pc:sldMkLst>
          <pc:docMk/>
          <pc:sldMk cId="0" sldId="257"/>
        </pc:sldMkLst>
      </pc:sldChg>
      <pc:sldChg chg="addSp delSp modSp add mod">
        <pc:chgData name="柏叡 潘" userId="02e63cba6dc8f507" providerId="LiveId" clId="{FDA166C7-AB03-468E-BC95-717DCAB95222}" dt="2026-04-19T04:44:42.362" v="191" actId="14100"/>
        <pc:sldMkLst>
          <pc:docMk/>
          <pc:sldMk cId="3469515943" sldId="258"/>
        </pc:sldMkLst>
        <pc:spChg chg="mod">
          <ac:chgData name="柏叡 潘" userId="02e63cba6dc8f507" providerId="LiveId" clId="{FDA166C7-AB03-468E-BC95-717DCAB95222}" dt="2026-04-19T04:42:34.414" v="147" actId="1076"/>
          <ac:spMkLst>
            <pc:docMk/>
            <pc:sldMk cId="3469515943" sldId="258"/>
            <ac:spMk id="2" creationId="{9142BB32-1CC8-4DE0-ADE3-08E528B9A2D8}"/>
          </ac:spMkLst>
        </pc:spChg>
        <pc:spChg chg="mod">
          <ac:chgData name="柏叡 潘" userId="02e63cba6dc8f507" providerId="LiveId" clId="{FDA166C7-AB03-468E-BC95-717DCAB95222}" dt="2026-04-19T04:44:42.362" v="191" actId="14100"/>
          <ac:spMkLst>
            <pc:docMk/>
            <pc:sldMk cId="3469515943" sldId="258"/>
            <ac:spMk id="3" creationId="{A52C1C19-12A9-4F33-9CD9-D52FF505A3D7}"/>
          </ac:spMkLst>
        </pc:spChg>
        <pc:picChg chg="del">
          <ac:chgData name="柏叡 潘" userId="02e63cba6dc8f507" providerId="LiveId" clId="{FDA166C7-AB03-468E-BC95-717DCAB95222}" dt="2026-04-19T04:32:06.596" v="41" actId="478"/>
          <ac:picMkLst>
            <pc:docMk/>
            <pc:sldMk cId="3469515943" sldId="258"/>
            <ac:picMk id="5" creationId="{1F25AFBB-20C0-42F7-9B34-9353E2BFD912}"/>
          </ac:picMkLst>
        </pc:picChg>
        <pc:picChg chg="add mod">
          <ac:chgData name="柏叡 潘" userId="02e63cba6dc8f507" providerId="LiveId" clId="{FDA166C7-AB03-468E-BC95-717DCAB95222}" dt="2026-04-19T04:37:54.092" v="106" actId="1076"/>
          <ac:picMkLst>
            <pc:docMk/>
            <pc:sldMk cId="3469515943" sldId="258"/>
            <ac:picMk id="6" creationId="{2B7E521E-38F1-488A-B50B-308F682B462F}"/>
          </ac:picMkLst>
        </pc:picChg>
      </pc:sldChg>
      <pc:sldChg chg="addSp delSp modSp add mod ord">
        <pc:chgData name="柏叡 潘" userId="02e63cba6dc8f507" providerId="LiveId" clId="{FDA166C7-AB03-468E-BC95-717DCAB95222}" dt="2026-04-19T05:14:35.268" v="385" actId="1076"/>
        <pc:sldMkLst>
          <pc:docMk/>
          <pc:sldMk cId="1710396216" sldId="259"/>
        </pc:sldMkLst>
        <pc:spChg chg="mod">
          <ac:chgData name="柏叡 潘" userId="02e63cba6dc8f507" providerId="LiveId" clId="{FDA166C7-AB03-468E-BC95-717DCAB95222}" dt="2026-04-19T04:39:03.265" v="117" actId="1076"/>
          <ac:spMkLst>
            <pc:docMk/>
            <pc:sldMk cId="1710396216" sldId="259"/>
            <ac:spMk id="2" creationId="{9142BB32-1CC8-4DE0-ADE3-08E528B9A2D8}"/>
          </ac:spMkLst>
        </pc:spChg>
        <pc:spChg chg="mod">
          <ac:chgData name="柏叡 潘" userId="02e63cba6dc8f507" providerId="LiveId" clId="{FDA166C7-AB03-468E-BC95-717DCAB95222}" dt="2026-04-19T05:14:29.942" v="384" actId="1076"/>
          <ac:spMkLst>
            <pc:docMk/>
            <pc:sldMk cId="1710396216" sldId="259"/>
            <ac:spMk id="3" creationId="{A52C1C19-12A9-4F33-9CD9-D52FF505A3D7}"/>
          </ac:spMkLst>
        </pc:spChg>
        <pc:picChg chg="del mod">
          <ac:chgData name="柏叡 潘" userId="02e63cba6dc8f507" providerId="LiveId" clId="{FDA166C7-AB03-468E-BC95-717DCAB95222}" dt="2026-04-19T04:40:14.996" v="124" actId="478"/>
          <ac:picMkLst>
            <pc:docMk/>
            <pc:sldMk cId="1710396216" sldId="259"/>
            <ac:picMk id="5" creationId="{1F25AFBB-20C0-42F7-9B34-9353E2BFD912}"/>
          </ac:picMkLst>
        </pc:picChg>
        <pc:picChg chg="add mod">
          <ac:chgData name="柏叡 潘" userId="02e63cba6dc8f507" providerId="LiveId" clId="{FDA166C7-AB03-468E-BC95-717DCAB95222}" dt="2026-04-19T05:14:35.268" v="385" actId="1076"/>
          <ac:picMkLst>
            <pc:docMk/>
            <pc:sldMk cId="1710396216" sldId="259"/>
            <ac:picMk id="6" creationId="{4D8670D9-1DDA-4633-BBBE-BD47A1DA9647}"/>
          </ac:picMkLst>
        </pc:picChg>
      </pc:sldChg>
      <pc:sldChg chg="addSp delSp modSp add mod ord">
        <pc:chgData name="柏叡 潘" userId="02e63cba6dc8f507" providerId="LiveId" clId="{FDA166C7-AB03-468E-BC95-717DCAB95222}" dt="2026-04-19T04:46:58.242" v="211" actId="1076"/>
        <pc:sldMkLst>
          <pc:docMk/>
          <pc:sldMk cId="1096291310" sldId="260"/>
        </pc:sldMkLst>
        <pc:spChg chg="mod">
          <ac:chgData name="柏叡 潘" userId="02e63cba6dc8f507" providerId="LiveId" clId="{FDA166C7-AB03-468E-BC95-717DCAB95222}" dt="2026-04-19T04:42:10.759" v="146" actId="20577"/>
          <ac:spMkLst>
            <pc:docMk/>
            <pc:sldMk cId="1096291310" sldId="260"/>
            <ac:spMk id="2" creationId="{9142BB32-1CC8-4DE0-ADE3-08E528B9A2D8}"/>
          </ac:spMkLst>
        </pc:spChg>
        <pc:spChg chg="mod">
          <ac:chgData name="柏叡 潘" userId="02e63cba6dc8f507" providerId="LiveId" clId="{FDA166C7-AB03-468E-BC95-717DCAB95222}" dt="2026-04-19T04:45:09.412" v="198" actId="20577"/>
          <ac:spMkLst>
            <pc:docMk/>
            <pc:sldMk cId="1096291310" sldId="260"/>
            <ac:spMk id="3" creationId="{A52C1C19-12A9-4F33-9CD9-D52FF505A3D7}"/>
          </ac:spMkLst>
        </pc:spChg>
        <pc:picChg chg="del">
          <ac:chgData name="柏叡 潘" userId="02e63cba6dc8f507" providerId="LiveId" clId="{FDA166C7-AB03-468E-BC95-717DCAB95222}" dt="2026-04-19T04:45:16.524" v="199" actId="478"/>
          <ac:picMkLst>
            <pc:docMk/>
            <pc:sldMk cId="1096291310" sldId="260"/>
            <ac:picMk id="5" creationId="{1F25AFBB-20C0-42F7-9B34-9353E2BFD912}"/>
          </ac:picMkLst>
        </pc:picChg>
        <pc:picChg chg="add mod ord">
          <ac:chgData name="柏叡 潘" userId="02e63cba6dc8f507" providerId="LiveId" clId="{FDA166C7-AB03-468E-BC95-717DCAB95222}" dt="2026-04-19T04:46:58.242" v="211" actId="1076"/>
          <ac:picMkLst>
            <pc:docMk/>
            <pc:sldMk cId="1096291310" sldId="260"/>
            <ac:picMk id="6" creationId="{27EE1FD2-D6BE-4304-995A-64DD5A54EC51}"/>
          </ac:picMkLst>
        </pc:picChg>
      </pc:sldChg>
      <pc:sldChg chg="add del">
        <pc:chgData name="柏叡 潘" userId="02e63cba6dc8f507" providerId="LiveId" clId="{FDA166C7-AB03-468E-BC95-717DCAB95222}" dt="2026-04-19T04:41:48.603" v="137" actId="47"/>
        <pc:sldMkLst>
          <pc:docMk/>
          <pc:sldMk cId="4186655264" sldId="260"/>
        </pc:sldMkLst>
      </pc:sldChg>
      <pc:sldChg chg="addSp delSp modSp add mod ord">
        <pc:chgData name="柏叡 潘" userId="02e63cba6dc8f507" providerId="LiveId" clId="{FDA166C7-AB03-468E-BC95-717DCAB95222}" dt="2026-04-19T04:52:06.338" v="244" actId="1076"/>
        <pc:sldMkLst>
          <pc:docMk/>
          <pc:sldMk cId="1547850850" sldId="261"/>
        </pc:sldMkLst>
        <pc:spChg chg="mod">
          <ac:chgData name="柏叡 潘" userId="02e63cba6dc8f507" providerId="LiveId" clId="{FDA166C7-AB03-468E-BC95-717DCAB95222}" dt="2026-04-19T04:52:06.338" v="244" actId="1076"/>
          <ac:spMkLst>
            <pc:docMk/>
            <pc:sldMk cId="1547850850" sldId="261"/>
            <ac:spMk id="2" creationId="{9142BB32-1CC8-4DE0-ADE3-08E528B9A2D8}"/>
          </ac:spMkLst>
        </pc:spChg>
        <pc:spChg chg="mod">
          <ac:chgData name="柏叡 潘" userId="02e63cba6dc8f507" providerId="LiveId" clId="{FDA166C7-AB03-468E-BC95-717DCAB95222}" dt="2026-04-19T04:48:58.913" v="239" actId="1076"/>
          <ac:spMkLst>
            <pc:docMk/>
            <pc:sldMk cId="1547850850" sldId="261"/>
            <ac:spMk id="3" creationId="{A52C1C19-12A9-4F33-9CD9-D52FF505A3D7}"/>
          </ac:spMkLst>
        </pc:spChg>
        <pc:picChg chg="add mod">
          <ac:chgData name="柏叡 潘" userId="02e63cba6dc8f507" providerId="LiveId" clId="{FDA166C7-AB03-468E-BC95-717DCAB95222}" dt="2026-04-19T04:51:51.730" v="243" actId="1076"/>
          <ac:picMkLst>
            <pc:docMk/>
            <pc:sldMk cId="1547850850" sldId="261"/>
            <ac:picMk id="5" creationId="{D14C023A-472F-4A42-B0F0-F7791AE5472B}"/>
          </ac:picMkLst>
        </pc:picChg>
        <pc:picChg chg="del">
          <ac:chgData name="柏叡 潘" userId="02e63cba6dc8f507" providerId="LiveId" clId="{FDA166C7-AB03-468E-BC95-717DCAB95222}" dt="2026-04-19T04:50:49.970" v="240" actId="478"/>
          <ac:picMkLst>
            <pc:docMk/>
            <pc:sldMk cId="1547850850" sldId="261"/>
            <ac:picMk id="6" creationId="{2B7E521E-38F1-488A-B50B-308F682B462F}"/>
          </ac:picMkLst>
        </pc:picChg>
      </pc:sldChg>
      <pc:sldChg chg="addSp delSp modSp add mod ord">
        <pc:chgData name="柏叡 潘" userId="02e63cba6dc8f507" providerId="LiveId" clId="{FDA166C7-AB03-468E-BC95-717DCAB95222}" dt="2026-04-19T04:55:31.365" v="275" actId="1076"/>
        <pc:sldMkLst>
          <pc:docMk/>
          <pc:sldMk cId="2397392443" sldId="262"/>
        </pc:sldMkLst>
        <pc:spChg chg="mod">
          <ac:chgData name="柏叡 潘" userId="02e63cba6dc8f507" providerId="LiveId" clId="{FDA166C7-AB03-468E-BC95-717DCAB95222}" dt="2026-04-19T04:53:17.971" v="253" actId="1076"/>
          <ac:spMkLst>
            <pc:docMk/>
            <pc:sldMk cId="2397392443" sldId="262"/>
            <ac:spMk id="2" creationId="{9142BB32-1CC8-4DE0-ADE3-08E528B9A2D8}"/>
          </ac:spMkLst>
        </pc:spChg>
        <pc:spChg chg="mod">
          <ac:chgData name="柏叡 潘" userId="02e63cba6dc8f507" providerId="LiveId" clId="{FDA166C7-AB03-468E-BC95-717DCAB95222}" dt="2026-04-19T04:54:10.525" v="265" actId="14100"/>
          <ac:spMkLst>
            <pc:docMk/>
            <pc:sldMk cId="2397392443" sldId="262"/>
            <ac:spMk id="3" creationId="{A52C1C19-12A9-4F33-9CD9-D52FF505A3D7}"/>
          </ac:spMkLst>
        </pc:spChg>
        <pc:picChg chg="add mod">
          <ac:chgData name="柏叡 潘" userId="02e63cba6dc8f507" providerId="LiveId" clId="{FDA166C7-AB03-468E-BC95-717DCAB95222}" dt="2026-04-19T04:55:31.365" v="275" actId="1076"/>
          <ac:picMkLst>
            <pc:docMk/>
            <pc:sldMk cId="2397392443" sldId="262"/>
            <ac:picMk id="5" creationId="{D08872DC-4E3B-46D7-B621-77C2AB5C5EC5}"/>
          </ac:picMkLst>
        </pc:picChg>
        <pc:picChg chg="del">
          <ac:chgData name="柏叡 潘" userId="02e63cba6dc8f507" providerId="LiveId" clId="{FDA166C7-AB03-468E-BC95-717DCAB95222}" dt="2026-04-19T04:54:40.440" v="266" actId="478"/>
          <ac:picMkLst>
            <pc:docMk/>
            <pc:sldMk cId="2397392443" sldId="262"/>
            <ac:picMk id="6" creationId="{27EE1FD2-D6BE-4304-995A-64DD5A54EC51}"/>
          </ac:picMkLst>
        </pc:picChg>
      </pc:sldChg>
      <pc:sldChg chg="addSp delSp modSp new mod">
        <pc:chgData name="柏叡 潘" userId="02e63cba6dc8f507" providerId="LiveId" clId="{FDA166C7-AB03-468E-BC95-717DCAB95222}" dt="2026-04-19T05:13:01.420" v="378" actId="1076"/>
        <pc:sldMkLst>
          <pc:docMk/>
          <pc:sldMk cId="3752298656" sldId="263"/>
        </pc:sldMkLst>
        <pc:spChg chg="mod">
          <ac:chgData name="柏叡 潘" userId="02e63cba6dc8f507" providerId="LiveId" clId="{FDA166C7-AB03-468E-BC95-717DCAB95222}" dt="2026-04-19T04:56:28.233" v="281" actId="255"/>
          <ac:spMkLst>
            <pc:docMk/>
            <pc:sldMk cId="3752298656" sldId="263"/>
            <ac:spMk id="2" creationId="{85E1F7A1-CB5E-498E-A8B5-786C64E73A58}"/>
          </ac:spMkLst>
        </pc:spChg>
        <pc:spChg chg="del mod">
          <ac:chgData name="柏叡 潘" userId="02e63cba6dc8f507" providerId="LiveId" clId="{FDA166C7-AB03-468E-BC95-717DCAB95222}" dt="2026-04-19T04:57:11.455" v="286" actId="478"/>
          <ac:spMkLst>
            <pc:docMk/>
            <pc:sldMk cId="3752298656" sldId="263"/>
            <ac:spMk id="3" creationId="{CAEDB9C4-FC3E-48BC-8BC0-0D7D6CCA588A}"/>
          </ac:spMkLst>
        </pc:spChg>
        <pc:spChg chg="add del mod">
          <ac:chgData name="柏叡 潘" userId="02e63cba6dc8f507" providerId="LiveId" clId="{FDA166C7-AB03-468E-BC95-717DCAB95222}" dt="2026-04-19T04:57:31.066" v="288" actId="21"/>
          <ac:spMkLst>
            <pc:docMk/>
            <pc:sldMk cId="3752298656" sldId="263"/>
            <ac:spMk id="5" creationId="{68E6E72E-AE39-4338-A363-C44F27C25D30}"/>
          </ac:spMkLst>
        </pc:spChg>
        <pc:spChg chg="add del mod">
          <ac:chgData name="柏叡 潘" userId="02e63cba6dc8f507" providerId="LiveId" clId="{FDA166C7-AB03-468E-BC95-717DCAB95222}" dt="2026-04-19T04:57:56.156" v="294"/>
          <ac:spMkLst>
            <pc:docMk/>
            <pc:sldMk cId="3752298656" sldId="263"/>
            <ac:spMk id="6" creationId="{3C666492-08FC-4C15-89B5-3183876F2E09}"/>
          </ac:spMkLst>
        </pc:spChg>
        <pc:spChg chg="add mod">
          <ac:chgData name="柏叡 潘" userId="02e63cba6dc8f507" providerId="LiveId" clId="{FDA166C7-AB03-468E-BC95-717DCAB95222}" dt="2026-04-19T04:58:43.468" v="298" actId="1076"/>
          <ac:spMkLst>
            <pc:docMk/>
            <pc:sldMk cId="3752298656" sldId="263"/>
            <ac:spMk id="7" creationId="{AEE11203-C55D-4018-93B4-9946B4D4DE1C}"/>
          </ac:spMkLst>
        </pc:spChg>
        <pc:spChg chg="add del mod">
          <ac:chgData name="柏叡 潘" userId="02e63cba6dc8f507" providerId="LiveId" clId="{FDA166C7-AB03-468E-BC95-717DCAB95222}" dt="2026-04-19T04:59:15.338" v="303" actId="21"/>
          <ac:spMkLst>
            <pc:docMk/>
            <pc:sldMk cId="3752298656" sldId="263"/>
            <ac:spMk id="9" creationId="{E66DDC25-88D6-47A7-995F-868BE086A251}"/>
          </ac:spMkLst>
        </pc:spChg>
        <pc:spChg chg="add mod">
          <ac:chgData name="柏叡 潘" userId="02e63cba6dc8f507" providerId="LiveId" clId="{FDA166C7-AB03-468E-BC95-717DCAB95222}" dt="2026-04-19T05:13:01.420" v="378" actId="1076"/>
          <ac:spMkLst>
            <pc:docMk/>
            <pc:sldMk cId="3752298656" sldId="263"/>
            <ac:spMk id="10" creationId="{37113770-54DC-4383-8CCA-1FFB7D14B080}"/>
          </ac:spMkLst>
        </pc:spChg>
      </pc:sldChg>
      <pc:sldChg chg="modSp add mod">
        <pc:chgData name="柏叡 潘" userId="02e63cba6dc8f507" providerId="LiveId" clId="{FDA166C7-AB03-468E-BC95-717DCAB95222}" dt="2026-04-19T05:14:03.350" v="383" actId="20577"/>
        <pc:sldMkLst>
          <pc:docMk/>
          <pc:sldMk cId="4124773818" sldId="264"/>
        </pc:sldMkLst>
        <pc:spChg chg="mod">
          <ac:chgData name="柏叡 潘" userId="02e63cba6dc8f507" providerId="LiveId" clId="{FDA166C7-AB03-468E-BC95-717DCAB95222}" dt="2026-04-19T05:14:03.350" v="383" actId="20577"/>
          <ac:spMkLst>
            <pc:docMk/>
            <pc:sldMk cId="4124773818" sldId="264"/>
            <ac:spMk id="10" creationId="{37113770-54DC-4383-8CCA-1FFB7D14B080}"/>
          </ac:spMkLst>
        </pc:spChg>
      </pc:sldChg>
      <pc:sldChg chg="modSp add mod">
        <pc:chgData name="柏叡 潘" userId="02e63cba6dc8f507" providerId="LiveId" clId="{FDA166C7-AB03-468E-BC95-717DCAB95222}" dt="2026-04-19T05:13:11.584" v="380" actId="1076"/>
        <pc:sldMkLst>
          <pc:docMk/>
          <pc:sldMk cId="2644520208" sldId="265"/>
        </pc:sldMkLst>
        <pc:spChg chg="mod">
          <ac:chgData name="柏叡 潘" userId="02e63cba6dc8f507" providerId="LiveId" clId="{FDA166C7-AB03-468E-BC95-717DCAB95222}" dt="2026-04-19T05:13:11.584" v="380" actId="1076"/>
          <ac:spMkLst>
            <pc:docMk/>
            <pc:sldMk cId="2644520208" sldId="265"/>
            <ac:spMk id="10" creationId="{37113770-54DC-4383-8CCA-1FFB7D14B08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35D27-5840-4E8F-AC72-B71B0C62F55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05FCA40-1B3C-441C-B4A8-330304241C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F1B3E23-1767-4F5D-9721-C70AE99A9A85}"/>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F5067D7F-FF7B-405C-9160-EA646E4B4A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0CF3026-7A8B-412A-916F-5559961B3D5F}"/>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858266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441269-CEA4-4388-A160-28C3739913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BD59927-039F-4D01-A530-3FF5FED305A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8FAED7B-C841-404B-B1E2-BACBD6E7E699}"/>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14C7A570-C4BF-499B-BEA2-B61C83D320D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E46564D-BA62-4597-B30B-72D92E528F46}"/>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1468341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8AC7A5-5E88-44DD-9A1C-278942B33FD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81847833-7147-4524-9ADC-6C5842E349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D9E607D-03D3-4B9D-A37F-5C1085E8B765}"/>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5AB86C94-4B42-403E-A08B-5C1C3D7BB6A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C31D868-9D56-4AFC-8876-7CCECD374347}"/>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3678312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6B2777-26A2-4FF3-A43D-682137B0C0D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DA55E7B-D7B5-4FA6-9603-ADF031CC685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1E7E248-FA44-4C15-BA5F-395C2E43699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4A9EBEC-7669-4475-B89B-9C8BD2A8B697}"/>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6" name="頁尾版面配置區 5">
            <a:extLst>
              <a:ext uri="{FF2B5EF4-FFF2-40B4-BE49-F238E27FC236}">
                <a16:creationId xmlns:a16="http://schemas.microsoft.com/office/drawing/2014/main" id="{F7BFE76E-AFC6-465A-807A-56DA2ACE359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7B48139-22D5-44A3-9A37-A600CBC08066}"/>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3607676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638C5-734C-481D-A0FF-4A02F8D1C91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C3F82C6-5F8B-4C8F-8BB5-322050544B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70D01102-0B43-4A72-AE48-723547A72A4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354F153-B592-4F80-A737-7067A02796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005FA69-F432-478E-809A-767901FA4FA3}"/>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4597C56-23F8-4B16-BDAF-3999E00FA673}"/>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8" name="頁尾版面配置區 7">
            <a:extLst>
              <a:ext uri="{FF2B5EF4-FFF2-40B4-BE49-F238E27FC236}">
                <a16:creationId xmlns:a16="http://schemas.microsoft.com/office/drawing/2014/main" id="{7CBCEDEF-259E-49CB-8C3F-D4B5F3044D9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069CC50-0D5F-4A9B-BBEC-60E5C9C26933}"/>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725366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821636-8D8E-4AE3-A176-1F59EB4A693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4C4A29E-E596-419A-81B6-2C79472D17E7}"/>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4" name="頁尾版面配置區 3">
            <a:extLst>
              <a:ext uri="{FF2B5EF4-FFF2-40B4-BE49-F238E27FC236}">
                <a16:creationId xmlns:a16="http://schemas.microsoft.com/office/drawing/2014/main" id="{1740F508-2265-43FD-81DA-EE331F50C05D}"/>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27C6D85-57E2-49E2-B872-7A19827F3499}"/>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28690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438A2A6-BE2C-4B54-A080-E8BA80378CC5}"/>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3" name="頁尾版面配置區 2">
            <a:extLst>
              <a:ext uri="{FF2B5EF4-FFF2-40B4-BE49-F238E27FC236}">
                <a16:creationId xmlns:a16="http://schemas.microsoft.com/office/drawing/2014/main" id="{65D25ED6-CF9D-4A2E-8671-9C7E6A669D3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4BCD4DE-813E-4499-AAEF-6B599D2948B9}"/>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172001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75653A-E798-4052-8794-CDBCF761F9C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8D5CC5F-AC2C-4192-B2EB-287F2A2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737CEA5-A8A3-4D0C-AFAE-A534E6A8A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9CA3C27-092C-4763-B8A0-FC4655DB4D18}"/>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6" name="頁尾版面配置區 5">
            <a:extLst>
              <a:ext uri="{FF2B5EF4-FFF2-40B4-BE49-F238E27FC236}">
                <a16:creationId xmlns:a16="http://schemas.microsoft.com/office/drawing/2014/main" id="{41DC8A15-A66B-4511-9241-4B892868E6F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A746DEF-B708-43CB-9D16-FAAF0F1487D9}"/>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77654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64BECA-3DD0-47A3-9145-80944448D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7139893-A82D-4AA4-8EF7-809EF73783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6261C93-A414-4603-A283-E6F31FCAB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A3478DF-7F78-40DE-BC74-5FB8E30E9202}"/>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6" name="頁尾版面配置區 5">
            <a:extLst>
              <a:ext uri="{FF2B5EF4-FFF2-40B4-BE49-F238E27FC236}">
                <a16:creationId xmlns:a16="http://schemas.microsoft.com/office/drawing/2014/main" id="{F3ABF464-DC9D-4F21-8657-AE84129CB8B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1EA8BEC-1E1C-439B-90EE-7C33152F98A5}"/>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1378315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52DDF1-C75A-480F-BCFD-97CA1A462B1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F60D533-88AB-46DC-866C-F9792505A74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64BFD86-C614-46D3-9EEF-2BA3BDAE2EB7}"/>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7E0FAED3-0831-44E4-9F7D-C2EBA1C0687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6EDD09-4F74-4B02-B53B-A653952C7CE7}"/>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1898806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343925D-983F-4623-BD4A-5614ADF24BB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9197037-73B8-4EC7-9F0E-041384FB50F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09183F-569C-42C4-952B-6033BD57CB74}"/>
              </a:ext>
            </a:extLst>
          </p:cNvPr>
          <p:cNvSpPr>
            <a:spLocks noGrp="1"/>
          </p:cNvSpPr>
          <p:nvPr>
            <p:ph type="dt" sz="half" idx="10"/>
          </p:nvPr>
        </p:nvSpPr>
        <p:spPr/>
        <p:txBody>
          <a:body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6F7F7205-47D3-48BB-AF64-2ABB66938B1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C621F8F-CDD9-4E67-9763-A15DEC5A38BB}"/>
              </a:ext>
            </a:extLst>
          </p:cNvPr>
          <p:cNvSpPr>
            <a:spLocks noGrp="1"/>
          </p:cNvSpPr>
          <p:nvPr>
            <p:ph type="sldNum" sz="quarter" idx="12"/>
          </p:nvPr>
        </p:nvSpPr>
        <p:spPr/>
        <p:txBody>
          <a:body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746818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A9F2BA9-CECD-496D-A12B-6089BE972C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0C1714B-71E2-47DD-B659-5A92290201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5AA3997-531C-4018-B0F9-204042338D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ADAB9-E59B-4233-B80E-DBEB03BA99AF}" type="datetimeFigureOut">
              <a:rPr lang="zh-TW" altLang="en-US" smtClean="0"/>
              <a:t>2026/4/21</a:t>
            </a:fld>
            <a:endParaRPr lang="zh-TW" altLang="en-US"/>
          </a:p>
        </p:txBody>
      </p:sp>
      <p:sp>
        <p:nvSpPr>
          <p:cNvPr id="5" name="頁尾版面配置區 4">
            <a:extLst>
              <a:ext uri="{FF2B5EF4-FFF2-40B4-BE49-F238E27FC236}">
                <a16:creationId xmlns:a16="http://schemas.microsoft.com/office/drawing/2014/main" id="{BE7DB617-AB41-4534-86ED-FD62764A8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D3148D4-0293-495B-9342-15EB0C61FB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DB164-C56D-40DD-9552-97B249ACF1A6}" type="slidenum">
              <a:rPr lang="zh-TW" altLang="en-US" smtClean="0"/>
              <a:t>‹#›</a:t>
            </a:fld>
            <a:endParaRPr lang="zh-TW" altLang="en-US"/>
          </a:p>
        </p:txBody>
      </p:sp>
    </p:spTree>
    <p:extLst>
      <p:ext uri="{BB962C8B-B14F-4D97-AF65-F5344CB8AC3E}">
        <p14:creationId xmlns:p14="http://schemas.microsoft.com/office/powerpoint/2010/main" val="3508296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242597"/>
            <a:ext cx="12192000" cy="1062652"/>
          </a:xfrm>
        </p:spPr>
        <p:txBody>
          <a:bodyPr>
            <a:normAutofit/>
          </a:bodyPr>
          <a:lstStyle/>
          <a:p>
            <a:r>
              <a:rPr lang="en-US" altLang="zh-TW" sz="4400" b="1" dirty="0" err="1">
                <a:latin typeface="微軟正黑體" panose="020B0604030504040204" pitchFamily="34" charset="-120"/>
                <a:ea typeface="微軟正黑體" panose="020B0604030504040204" pitchFamily="34" charset="-120"/>
              </a:rPr>
              <a:t>A.Attention</a:t>
            </a:r>
            <a:r>
              <a:rPr lang="en-US" altLang="zh-TW" sz="4400" b="1" dirty="0">
                <a:latin typeface="微軟正黑體" panose="020B0604030504040204" pitchFamily="34" charset="-120"/>
                <a:ea typeface="微軟正黑體" panose="020B0604030504040204" pitchFamily="34" charset="-120"/>
              </a:rPr>
              <a:t> Getter Motivation </a:t>
            </a:r>
            <a:r>
              <a:rPr lang="zh-TW" altLang="en-US" sz="4400" b="1" dirty="0">
                <a:latin typeface="微軟正黑體" panose="020B0604030504040204" pitchFamily="34" charset="-120"/>
                <a:ea typeface="微軟正黑體" panose="020B0604030504040204" pitchFamily="34" charset="-120"/>
              </a:rPr>
              <a:t>動機及引題 </a:t>
            </a: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311999" y="1592327"/>
            <a:ext cx="11715159" cy="2858375"/>
          </a:xfrm>
        </p:spPr>
        <p:txBody>
          <a:bodyPr/>
          <a:lstStyle/>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股票交易處於高度不確定性的環境，傳統方法依賴技術指標或統計模型，難以預測市場的非線性的變化。</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隨著 </a:t>
            </a:r>
            <a:r>
              <a:rPr lang="en-US" altLang="zh-TW" dirty="0">
                <a:latin typeface="微軟正黑體" panose="020B0604030504040204" pitchFamily="34" charset="-120"/>
                <a:ea typeface="微軟正黑體" panose="020B0604030504040204" pitchFamily="34" charset="-120"/>
              </a:rPr>
              <a:t>AI </a:t>
            </a:r>
            <a:r>
              <a:rPr lang="zh-TW" altLang="en-US" dirty="0">
                <a:latin typeface="微軟正黑體" panose="020B0604030504040204" pitchFamily="34" charset="-120"/>
                <a:ea typeface="微軟正黑體" panose="020B0604030504040204" pitchFamily="34" charset="-120"/>
              </a:rPr>
              <a:t>技術的發展，資料科學逐漸應用於金融預測，然而監督式學習方法只能進行價格預測，無法直接優化投資報酬率。強化學習（</a:t>
            </a:r>
            <a:r>
              <a:rPr lang="en-US" altLang="zh-TW" dirty="0">
                <a:latin typeface="微軟正黑體" panose="020B0604030504040204" pitchFamily="34" charset="-120"/>
                <a:ea typeface="微軟正黑體" panose="020B0604030504040204" pitchFamily="34" charset="-120"/>
              </a:rPr>
              <a:t>Reinforcement Learning, RL</a:t>
            </a:r>
            <a:r>
              <a:rPr lang="zh-TW" altLang="en-US" dirty="0">
                <a:latin typeface="微軟正黑體" panose="020B0604030504040204" pitchFamily="34" charset="-120"/>
                <a:ea typeface="微軟正黑體" panose="020B0604030504040204" pitchFamily="34" charset="-120"/>
              </a:rPr>
              <a:t>）透過與環境的互動進行學習，能以最大化累積報酬為目標，直接學習買賣策略。 </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因此，本研究旨在建構一個</a:t>
            </a:r>
            <a:r>
              <a:rPr lang="zh-TW" altLang="en-US" b="1" dirty="0">
                <a:latin typeface="微軟正黑體" panose="020B0604030504040204" pitchFamily="34" charset="-120"/>
                <a:ea typeface="微軟正黑體" panose="020B0604030504040204" pitchFamily="34" charset="-120"/>
              </a:rPr>
              <a:t>基於</a:t>
            </a:r>
            <a:r>
              <a:rPr lang="en-US" altLang="zh-TW" b="1" dirty="0">
                <a:latin typeface="微軟正黑體" panose="020B0604030504040204" pitchFamily="34" charset="-120"/>
                <a:ea typeface="微軟正黑體" panose="020B0604030504040204" pitchFamily="34" charset="-120"/>
              </a:rPr>
              <a:t>Q-Transformer </a:t>
            </a:r>
            <a:r>
              <a:rPr lang="zh-TW" altLang="en-US" b="1" dirty="0">
                <a:latin typeface="微軟正黑體" panose="020B0604030504040204" pitchFamily="34" charset="-120"/>
                <a:ea typeface="微軟正黑體" panose="020B0604030504040204" pitchFamily="34" charset="-120"/>
              </a:rPr>
              <a:t>的股票交易系統</a:t>
            </a:r>
            <a:r>
              <a:rPr lang="zh-TW" altLang="en-US" dirty="0">
                <a:latin typeface="微軟正黑體" panose="020B0604030504040204" pitchFamily="34" charset="-120"/>
                <a:ea typeface="微軟正黑體" panose="020B0604030504040204" pitchFamily="34" charset="-120"/>
              </a:rPr>
              <a:t>，使模型能透過歷史資料學習買賣策略，並自動調整以適應市場變化。 </a:t>
            </a:r>
          </a:p>
        </p:txBody>
      </p:sp>
      <p:pic>
        <p:nvPicPr>
          <p:cNvPr id="5" name="Picture 2">
            <a:extLst>
              <a:ext uri="{FF2B5EF4-FFF2-40B4-BE49-F238E27FC236}">
                <a16:creationId xmlns:a16="http://schemas.microsoft.com/office/drawing/2014/main" id="{1F25AFBB-20C0-42F7-9B34-9353E2BFD912}"/>
              </a:ext>
            </a:extLst>
          </p:cNvPr>
          <p:cNvPicPr>
            <a:picLocks noChangeAspect="1"/>
          </p:cNvPicPr>
          <p:nvPr/>
        </p:nvPicPr>
        <p:blipFill rotWithShape="1">
          <a:blip r:embed="rId2"/>
          <a:srcRect l="63281" t="32773" b="24370"/>
          <a:stretch/>
        </p:blipFill>
        <p:spPr>
          <a:xfrm>
            <a:off x="4769241" y="4450702"/>
            <a:ext cx="3600000" cy="2343830"/>
          </a:xfrm>
          <a:prstGeom prst="rect">
            <a:avLst/>
          </a:prstGeom>
        </p:spPr>
      </p:pic>
    </p:spTree>
    <p:extLst>
      <p:ext uri="{BB962C8B-B14F-4D97-AF65-F5344CB8AC3E}">
        <p14:creationId xmlns:p14="http://schemas.microsoft.com/office/powerpoint/2010/main" val="3306398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268513"/>
            <a:ext cx="12192000" cy="921657"/>
          </a:xfrm>
        </p:spPr>
        <p:txBody>
          <a:bodyPr>
            <a:normAutofit/>
          </a:bodyPr>
          <a:lstStyle/>
          <a:p>
            <a:r>
              <a:rPr lang="en-US" altLang="zh-TW" sz="4800" b="1" dirty="0" err="1">
                <a:latin typeface="微軟正黑體" panose="020B0604030504040204" pitchFamily="34" charset="-120"/>
                <a:ea typeface="微軟正黑體" panose="020B0604030504040204" pitchFamily="34" charset="-120"/>
              </a:rPr>
              <a:t>B.But</a:t>
            </a:r>
            <a:r>
              <a:rPr lang="en-US" altLang="zh-TW" sz="4800" b="1" dirty="0">
                <a:latin typeface="微軟正黑體" panose="020B0604030504040204" pitchFamily="34" charset="-120"/>
                <a:ea typeface="微軟正黑體" panose="020B0604030504040204" pitchFamily="34" charset="-120"/>
              </a:rPr>
              <a:t> </a:t>
            </a:r>
            <a:r>
              <a:rPr lang="zh-TW" altLang="en-US" sz="4800" b="1" dirty="0">
                <a:latin typeface="微軟正黑體" panose="020B0604030504040204" pitchFamily="34" charset="-120"/>
                <a:ea typeface="微軟正黑體" panose="020B0604030504040204" pitchFamily="34" charset="-120"/>
              </a:rPr>
              <a:t>挑戰 </a:t>
            </a: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522514" y="1426027"/>
            <a:ext cx="11103429" cy="2002973"/>
          </a:xfrm>
        </p:spPr>
        <p:txBody>
          <a:bodyPr/>
          <a:lstStyle/>
          <a:p>
            <a:pPr marL="342900" indent="-342900" algn="l">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屬於傳統的強化學習方法；</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是無模型的，他沒有神經網路模型，</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依靠</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學習過往的經驗，</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紀錄過往的環境與行動對應的獎勵值，透過比較獎勵值選擇該做什麼行動。</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儘管在金融市場可以簡單區分成買、賣、維持不變三種行動，但股市的環境是極其複雜的，超過</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的記憶能力。</a:t>
            </a:r>
          </a:p>
        </p:txBody>
      </p:sp>
      <p:pic>
        <p:nvPicPr>
          <p:cNvPr id="6" name="Picture 2">
            <a:extLst>
              <a:ext uri="{FF2B5EF4-FFF2-40B4-BE49-F238E27FC236}">
                <a16:creationId xmlns:a16="http://schemas.microsoft.com/office/drawing/2014/main" id="{2B7E521E-38F1-488A-B50B-308F682B462F}"/>
              </a:ext>
            </a:extLst>
          </p:cNvPr>
          <p:cNvPicPr>
            <a:picLocks noChangeAspect="1"/>
          </p:cNvPicPr>
          <p:nvPr/>
        </p:nvPicPr>
        <p:blipFill rotWithShape="1">
          <a:blip r:embed="rId2"/>
          <a:srcRect t="53361" b="4621"/>
          <a:stretch/>
        </p:blipFill>
        <p:spPr>
          <a:xfrm>
            <a:off x="156000" y="3429000"/>
            <a:ext cx="11880000" cy="2784375"/>
          </a:xfrm>
          <a:prstGeom prst="rect">
            <a:avLst/>
          </a:prstGeom>
        </p:spPr>
      </p:pic>
    </p:spTree>
    <p:extLst>
      <p:ext uri="{BB962C8B-B14F-4D97-AF65-F5344CB8AC3E}">
        <p14:creationId xmlns:p14="http://schemas.microsoft.com/office/powerpoint/2010/main" val="3469515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98743"/>
            <a:ext cx="12260424" cy="1182914"/>
          </a:xfrm>
        </p:spPr>
        <p:txBody>
          <a:bodyPr>
            <a:normAutofit/>
          </a:bodyPr>
          <a:lstStyle/>
          <a:p>
            <a:r>
              <a:rPr lang="en-US" altLang="zh-TW" sz="4800" b="1" dirty="0" err="1">
                <a:latin typeface="微軟正黑體" panose="020B0604030504040204" pitchFamily="34" charset="-120"/>
                <a:ea typeface="微軟正黑體" panose="020B0604030504040204" pitchFamily="34" charset="-120"/>
              </a:rPr>
              <a:t>C.Cure</a:t>
            </a:r>
            <a:r>
              <a:rPr lang="en-US" altLang="zh-TW" sz="4800" b="1" dirty="0">
                <a:latin typeface="微軟正黑體" panose="020B0604030504040204" pitchFamily="34" charset="-120"/>
                <a:ea typeface="微軟正黑體" panose="020B0604030504040204" pitchFamily="34" charset="-120"/>
              </a:rPr>
              <a:t> </a:t>
            </a:r>
            <a:r>
              <a:rPr lang="zh-TW" altLang="en-US" sz="4800" b="1" dirty="0">
                <a:latin typeface="微軟正黑體" panose="020B0604030504040204" pitchFamily="34" charset="-120"/>
                <a:ea typeface="微軟正黑體" panose="020B0604030504040204" pitchFamily="34" charset="-120"/>
              </a:rPr>
              <a:t>解藥 </a:t>
            </a: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307909" y="1577673"/>
            <a:ext cx="11485985" cy="2434238"/>
          </a:xfrm>
        </p:spPr>
        <p:txBody>
          <a:bodyPr/>
          <a:lstStyle/>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在過去就存在將</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中的</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用神經網路取代，最典型的例子是</a:t>
            </a:r>
            <a:r>
              <a:rPr lang="en-US" altLang="zh-TW" dirty="0">
                <a:latin typeface="微軟正黑體" panose="020B0604030504040204" pitchFamily="34" charset="-120"/>
                <a:ea typeface="微軟正黑體" panose="020B0604030504040204" pitchFamily="34" charset="-120"/>
              </a:rPr>
              <a:t>DQN (Deep Q-Network)</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為了解決</a:t>
            </a:r>
            <a:r>
              <a:rPr lang="en-US" altLang="zh-TW" dirty="0">
                <a:latin typeface="微軟正黑體" panose="020B0604030504040204" pitchFamily="34" charset="-120"/>
                <a:ea typeface="微軟正黑體" panose="020B0604030504040204" pitchFamily="34" charset="-120"/>
              </a:rPr>
              <a:t> Q-learning </a:t>
            </a:r>
            <a:r>
              <a:rPr lang="zh-TW" altLang="en-US" dirty="0">
                <a:latin typeface="微軟正黑體" panose="020B0604030504040204" pitchFamily="34" charset="-120"/>
                <a:ea typeface="微軟正黑體" panose="020B0604030504040204" pitchFamily="34" charset="-120"/>
              </a:rPr>
              <a:t>學習能力不足的問題，本研究引入大規模模型</a:t>
            </a:r>
            <a:r>
              <a:rPr lang="en-US" altLang="zh-TW" dirty="0">
                <a:latin typeface="微軟正黑體" panose="020B0604030504040204" pitchFamily="34" charset="-120"/>
                <a:ea typeface="微軟正黑體" panose="020B0604030504040204" pitchFamily="34" charset="-120"/>
              </a:rPr>
              <a:t>, Transformer</a:t>
            </a:r>
            <a:r>
              <a:rPr lang="zh-TW" altLang="en-US" dirty="0">
                <a:latin typeface="微軟正黑體" panose="020B0604030504040204" pitchFamily="34" charset="-120"/>
                <a:ea typeface="微軟正黑體" panose="020B0604030504040204" pitchFamily="34" charset="-120"/>
              </a:rPr>
              <a:t>，將</a:t>
            </a:r>
            <a:r>
              <a:rPr lang="en-US" altLang="zh-TW" dirty="0">
                <a:latin typeface="微軟正黑體" panose="020B0604030504040204" pitchFamily="34" charset="-120"/>
                <a:ea typeface="微軟正黑體" panose="020B0604030504040204" pitchFamily="34" charset="-120"/>
              </a:rPr>
              <a:t>Transformer</a:t>
            </a:r>
            <a:r>
              <a:rPr lang="zh-TW" altLang="en-US" dirty="0">
                <a:latin typeface="微軟正黑體" panose="020B0604030504040204" pitchFamily="34" charset="-120"/>
                <a:ea typeface="微軟正黑體" panose="020B0604030504040204" pitchFamily="34" charset="-120"/>
              </a:rPr>
              <a:t>替代</a:t>
            </a:r>
            <a:r>
              <a:rPr lang="en-US" altLang="zh-TW" dirty="0">
                <a:latin typeface="微軟正黑體" panose="020B0604030504040204" pitchFamily="34" charset="-120"/>
                <a:ea typeface="微軟正黑體" panose="020B0604030504040204" pitchFamily="34" charset="-120"/>
              </a:rPr>
              <a:t>Q-table</a:t>
            </a:r>
          </a:p>
          <a:p>
            <a:pPr marL="342900" indent="-342900" algn="l">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Transformer </a:t>
            </a:r>
            <a:r>
              <a:rPr lang="zh-TW" altLang="en-US" dirty="0">
                <a:latin typeface="微軟正黑體" panose="020B0604030504040204" pitchFamily="34" charset="-120"/>
                <a:ea typeface="微軟正黑體" panose="020B0604030504040204" pitchFamily="34" charset="-120"/>
              </a:rPr>
              <a:t>模型具有</a:t>
            </a:r>
            <a:r>
              <a:rPr lang="en-US" altLang="zh-TW" dirty="0">
                <a:latin typeface="微軟正黑體" panose="020B0604030504040204" pitchFamily="34" charset="-120"/>
                <a:ea typeface="微軟正黑體" panose="020B0604030504040204" pitchFamily="34" charset="-120"/>
              </a:rPr>
              <a:t>self attention </a:t>
            </a:r>
            <a:r>
              <a:rPr lang="zh-TW" altLang="en-US" dirty="0">
                <a:latin typeface="微軟正黑體" panose="020B0604030504040204" pitchFamily="34" charset="-120"/>
                <a:ea typeface="微軟正黑體" panose="020B0604030504040204" pitchFamily="34" charset="-120"/>
              </a:rPr>
              <a:t>架構，該架構可挖掘出過去不同時間點與未來股價的關聯性。此外</a:t>
            </a:r>
            <a:r>
              <a:rPr lang="en-US" altLang="zh-TW" dirty="0">
                <a:latin typeface="微軟正黑體" panose="020B0604030504040204" pitchFamily="34" charset="-120"/>
                <a:ea typeface="微軟正黑體" panose="020B0604030504040204" pitchFamily="34" charset="-120"/>
              </a:rPr>
              <a:t>Transformer </a:t>
            </a:r>
            <a:r>
              <a:rPr lang="zh-TW" altLang="en-US" dirty="0">
                <a:latin typeface="微軟正黑體" panose="020B0604030504040204" pitchFamily="34" charset="-120"/>
                <a:ea typeface="微軟正黑體" panose="020B0604030504040204" pitchFamily="34" charset="-120"/>
              </a:rPr>
              <a:t>龐大的參數量足以學習金融市場多變的環境。 </a:t>
            </a:r>
          </a:p>
        </p:txBody>
      </p:sp>
      <p:pic>
        <p:nvPicPr>
          <p:cNvPr id="6" name="Picture 2">
            <a:extLst>
              <a:ext uri="{FF2B5EF4-FFF2-40B4-BE49-F238E27FC236}">
                <a16:creationId xmlns:a16="http://schemas.microsoft.com/office/drawing/2014/main" id="{4D8670D9-1DDA-4633-BBBE-BD47A1DA9647}"/>
              </a:ext>
            </a:extLst>
          </p:cNvPr>
          <p:cNvPicPr>
            <a:picLocks noChangeAspect="1"/>
          </p:cNvPicPr>
          <p:nvPr/>
        </p:nvPicPr>
        <p:blipFill rotWithShape="1">
          <a:blip r:embed="rId2"/>
          <a:srcRect l="55311" t="31093" r="4845" b="30672"/>
          <a:stretch/>
        </p:blipFill>
        <p:spPr>
          <a:xfrm>
            <a:off x="4517142" y="4440573"/>
            <a:ext cx="3708000" cy="1984872"/>
          </a:xfrm>
          <a:prstGeom prst="rect">
            <a:avLst/>
          </a:prstGeom>
        </p:spPr>
      </p:pic>
    </p:spTree>
    <p:extLst>
      <p:ext uri="{BB962C8B-B14F-4D97-AF65-F5344CB8AC3E}">
        <p14:creationId xmlns:p14="http://schemas.microsoft.com/office/powerpoint/2010/main" val="1710396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27EE1FD2-D6BE-4304-995A-64DD5A54EC51}"/>
              </a:ext>
            </a:extLst>
          </p:cNvPr>
          <p:cNvPicPr>
            <a:picLocks/>
          </p:cNvPicPr>
          <p:nvPr/>
        </p:nvPicPr>
        <p:blipFill rotWithShape="1">
          <a:blip r:embed="rId2"/>
          <a:srcRect l="62187" b="6302"/>
          <a:stretch/>
        </p:blipFill>
        <p:spPr>
          <a:xfrm>
            <a:off x="9027429" y="1558212"/>
            <a:ext cx="3164571" cy="5010539"/>
          </a:xfrm>
          <a:prstGeom prst="rect">
            <a:avLst/>
          </a:prstGeom>
        </p:spPr>
      </p:pic>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139959"/>
            <a:ext cx="12192000" cy="1352939"/>
          </a:xfrm>
        </p:spPr>
        <p:txBody>
          <a:bodyPr>
            <a:normAutofit/>
          </a:bodyPr>
          <a:lstStyle/>
          <a:p>
            <a:r>
              <a:rPr lang="en-US" altLang="zh-TW" sz="4800" b="1" dirty="0" err="1">
                <a:latin typeface="微軟正黑體" panose="020B0604030504040204" pitchFamily="34" charset="-120"/>
                <a:ea typeface="微軟正黑體" panose="020B0604030504040204" pitchFamily="34" charset="-120"/>
              </a:rPr>
              <a:t>D.Development</a:t>
            </a:r>
            <a:r>
              <a:rPr lang="zh-TW" altLang="en-US" sz="4800" b="1" dirty="0">
                <a:latin typeface="微軟正黑體" panose="020B0604030504040204" pitchFamily="34" charset="-120"/>
                <a:ea typeface="微軟正黑體" panose="020B0604030504040204" pitchFamily="34" charset="-120"/>
              </a:rPr>
              <a:t> 我們的方法設計 </a:t>
            </a: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429209" y="1722957"/>
            <a:ext cx="8332236" cy="4043361"/>
          </a:xfrm>
        </p:spPr>
        <p:txBody>
          <a:bodyPr/>
          <a:lstStyle/>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本研究將</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中的</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用</a:t>
            </a:r>
            <a:r>
              <a:rPr lang="en-US" altLang="zh-TW" dirty="0">
                <a:latin typeface="微軟正黑體" panose="020B0604030504040204" pitchFamily="34" charset="-120"/>
                <a:ea typeface="微軟正黑體" panose="020B0604030504040204" pitchFamily="34" charset="-120"/>
              </a:rPr>
              <a:t>Transformer </a:t>
            </a:r>
            <a:r>
              <a:rPr lang="zh-TW" altLang="en-US" dirty="0">
                <a:latin typeface="微軟正黑體" panose="020B0604030504040204" pitchFamily="34" charset="-120"/>
                <a:ea typeface="微軟正黑體" panose="020B0604030504040204" pitchFamily="34" charset="-120"/>
              </a:rPr>
              <a:t>取代，即</a:t>
            </a:r>
            <a:r>
              <a:rPr lang="en-US" altLang="zh-TW" dirty="0">
                <a:latin typeface="微軟正黑體" panose="020B0604030504040204" pitchFamily="34" charset="-120"/>
                <a:ea typeface="微軟正黑體" panose="020B0604030504040204" pitchFamily="34" charset="-120"/>
              </a:rPr>
              <a:t>Q-Transformer</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將過去股票市場的價格變化作為資料集並分別搜集不同類型的股票以確保資料的多樣性，例如：科技股、能源股、消費必需品等等。</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預測下一時間點的股票價股，以</a:t>
            </a:r>
            <a:r>
              <a:rPr lang="en-US" altLang="zh-TW" dirty="0">
                <a:latin typeface="微軟正黑體" panose="020B0604030504040204" pitchFamily="34" charset="-120"/>
                <a:ea typeface="微軟正黑體" panose="020B0604030504040204" pitchFamily="34" charset="-120"/>
              </a:rPr>
              <a:t>MAPE </a:t>
            </a:r>
            <a:r>
              <a:rPr lang="zh-TW" altLang="en-US" dirty="0">
                <a:latin typeface="微軟正黑體" panose="020B0604030504040204" pitchFamily="34" charset="-120"/>
                <a:ea typeface="微軟正黑體" panose="020B0604030504040204" pitchFamily="34" charset="-120"/>
              </a:rPr>
              <a:t>為評估指標。本研究以</a:t>
            </a:r>
            <a:r>
              <a:rPr lang="en-US" altLang="zh-TW" dirty="0">
                <a:latin typeface="微軟正黑體" panose="020B0604030504040204" pitchFamily="34" charset="-120"/>
                <a:ea typeface="微軟正黑體" panose="020B0604030504040204" pitchFamily="34" charset="-120"/>
              </a:rPr>
              <a:t> Q-learning </a:t>
            </a:r>
            <a:r>
              <a:rPr lang="zh-TW" altLang="en-US" dirty="0">
                <a:latin typeface="微軟正黑體" panose="020B0604030504040204" pitchFamily="34" charset="-120"/>
                <a:ea typeface="微軟正黑體" panose="020B0604030504040204" pitchFamily="34" charset="-120"/>
              </a:rPr>
              <a:t>為基準，比較</a:t>
            </a: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或</a:t>
            </a: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與其他強化學習模型的預測能力。 </a:t>
            </a:r>
          </a:p>
        </p:txBody>
      </p:sp>
    </p:spTree>
    <p:extLst>
      <p:ext uri="{BB962C8B-B14F-4D97-AF65-F5344CB8AC3E}">
        <p14:creationId xmlns:p14="http://schemas.microsoft.com/office/powerpoint/2010/main" val="1096291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360000"/>
            <a:ext cx="12192000" cy="921657"/>
          </a:xfrm>
        </p:spPr>
        <p:txBody>
          <a:bodyPr>
            <a:normAutofit/>
          </a:bodyPr>
          <a:lstStyle/>
          <a:p>
            <a:r>
              <a:rPr lang="en-US" altLang="zh-TW" sz="4800" b="1" dirty="0" err="1">
                <a:latin typeface="微軟正黑體" panose="020B0604030504040204" pitchFamily="34" charset="-120"/>
                <a:ea typeface="微軟正黑體" panose="020B0604030504040204" pitchFamily="34" charset="-120"/>
              </a:rPr>
              <a:t>E.Experiments</a:t>
            </a:r>
            <a:r>
              <a:rPr lang="en-US" altLang="zh-TW" sz="4800" b="1" dirty="0">
                <a:latin typeface="微軟正黑體" panose="020B0604030504040204" pitchFamily="34" charset="-120"/>
                <a:ea typeface="微軟正黑體" panose="020B0604030504040204" pitchFamily="34" charset="-120"/>
              </a:rPr>
              <a:t> </a:t>
            </a:r>
            <a:endParaRPr lang="zh-TW" altLang="en-US" sz="4800" b="1" dirty="0">
              <a:latin typeface="微軟正黑體" panose="020B0604030504040204" pitchFamily="34" charset="-120"/>
              <a:ea typeface="微軟正黑體" panose="020B0604030504040204" pitchFamily="34" charset="-120"/>
            </a:endParaRP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216000" y="1750514"/>
            <a:ext cx="11808000" cy="2074000"/>
          </a:xfrm>
        </p:spPr>
        <p:txBody>
          <a:bodyPr>
            <a:noAutofit/>
          </a:bodyPr>
          <a:lstStyle/>
          <a:p>
            <a:pPr marL="457200" indent="-4572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本研究採用包含科技、能源及民生消費等跨產業的歷史股市數據進行實驗，藉此驗證模型在多元市場的魯棒性</a:t>
            </a:r>
            <a:r>
              <a:rPr lang="en-US" altLang="zh-TW" dirty="0">
                <a:latin typeface="微軟正黑體" panose="020B0604030504040204" pitchFamily="34" charset="-120"/>
                <a:ea typeface="微軟正黑體" panose="020B0604030504040204" pitchFamily="34" charset="-120"/>
              </a:rPr>
              <a:t>(Robustness)</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457200" indent="-4572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實驗以 </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為基準</a:t>
            </a:r>
            <a:r>
              <a:rPr lang="en-US" altLang="zh-TW" dirty="0">
                <a:latin typeface="微軟正黑體" panose="020B0604030504040204" pitchFamily="34" charset="-120"/>
                <a:ea typeface="微軟正黑體" panose="020B0604030504040204" pitchFamily="34" charset="-120"/>
              </a:rPr>
              <a:t>(Baseline)</a:t>
            </a:r>
            <a:r>
              <a:rPr lang="zh-TW" altLang="en-US" dirty="0">
                <a:latin typeface="微軟正黑體" panose="020B0604030504040204" pitchFamily="34" charset="-120"/>
                <a:ea typeface="微軟正黑體" panose="020B0604030504040204" pitchFamily="34" charset="-120"/>
              </a:rPr>
              <a:t>，對比 </a:t>
            </a: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及其他強化學習模型的表現並統一採用</a:t>
            </a:r>
            <a:r>
              <a:rPr lang="en-US" altLang="zh-TW" dirty="0">
                <a:latin typeface="微軟正黑體" panose="020B0604030504040204" pitchFamily="34" charset="-120"/>
                <a:ea typeface="微軟正黑體" panose="020B0604030504040204" pitchFamily="34" charset="-120"/>
              </a:rPr>
              <a:t>MAPE(Mean Absolute Percentage Error)</a:t>
            </a:r>
            <a:r>
              <a:rPr lang="zh-TW" altLang="en-US" dirty="0">
                <a:latin typeface="微軟正黑體" panose="020B0604030504040204" pitchFamily="34" charset="-120"/>
                <a:ea typeface="微軟正黑體" panose="020B0604030504040204" pitchFamily="34" charset="-120"/>
              </a:rPr>
              <a:t>為評估指標，藉此分析各模型在股市預測上的準確度與穩定度。 </a:t>
            </a:r>
          </a:p>
        </p:txBody>
      </p:sp>
      <p:pic>
        <p:nvPicPr>
          <p:cNvPr id="5" name="Picture 2">
            <a:extLst>
              <a:ext uri="{FF2B5EF4-FFF2-40B4-BE49-F238E27FC236}">
                <a16:creationId xmlns:a16="http://schemas.microsoft.com/office/drawing/2014/main" id="{D14C023A-472F-4A42-B0F0-F7791AE5472B}"/>
              </a:ext>
            </a:extLst>
          </p:cNvPr>
          <p:cNvPicPr>
            <a:picLocks noChangeAspect="1"/>
          </p:cNvPicPr>
          <p:nvPr/>
        </p:nvPicPr>
        <p:blipFill rotWithShape="1">
          <a:blip r:embed="rId2"/>
          <a:srcRect l="16719" t="52445" r="16718" b="4622"/>
          <a:stretch/>
        </p:blipFill>
        <p:spPr>
          <a:xfrm>
            <a:off x="2224314" y="4147456"/>
            <a:ext cx="7200000" cy="2590525"/>
          </a:xfrm>
          <a:prstGeom prst="rect">
            <a:avLst/>
          </a:prstGeom>
        </p:spPr>
      </p:pic>
    </p:spTree>
    <p:extLst>
      <p:ext uri="{BB962C8B-B14F-4D97-AF65-F5344CB8AC3E}">
        <p14:creationId xmlns:p14="http://schemas.microsoft.com/office/powerpoint/2010/main" val="1547850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42BB32-1CC8-4DE0-ADE3-08E528B9A2D8}"/>
              </a:ext>
            </a:extLst>
          </p:cNvPr>
          <p:cNvSpPr>
            <a:spLocks noGrp="1"/>
          </p:cNvSpPr>
          <p:nvPr>
            <p:ph type="ctrTitle"/>
          </p:nvPr>
        </p:nvSpPr>
        <p:spPr>
          <a:xfrm>
            <a:off x="0" y="468074"/>
            <a:ext cx="12192000" cy="1008743"/>
          </a:xfrm>
        </p:spPr>
        <p:txBody>
          <a:bodyPr>
            <a:normAutofit/>
          </a:bodyPr>
          <a:lstStyle/>
          <a:p>
            <a:r>
              <a:rPr lang="en-US" altLang="zh-TW" sz="4800" b="1" dirty="0" err="1">
                <a:latin typeface="微軟正黑體" panose="020B0604030504040204" pitchFamily="34" charset="-120"/>
                <a:ea typeface="微軟正黑體" panose="020B0604030504040204" pitchFamily="34" charset="-120"/>
              </a:rPr>
              <a:t>F.Findings</a:t>
            </a:r>
            <a:endParaRPr lang="zh-TW" altLang="en-US" sz="4800" b="1" dirty="0">
              <a:latin typeface="微軟正黑體" panose="020B0604030504040204" pitchFamily="34" charset="-120"/>
              <a:ea typeface="微軟正黑體" panose="020B0604030504040204" pitchFamily="34" charset="-120"/>
            </a:endParaRPr>
          </a:p>
        </p:txBody>
      </p:sp>
      <p:sp>
        <p:nvSpPr>
          <p:cNvPr id="3" name="副標題 2">
            <a:extLst>
              <a:ext uri="{FF2B5EF4-FFF2-40B4-BE49-F238E27FC236}">
                <a16:creationId xmlns:a16="http://schemas.microsoft.com/office/drawing/2014/main" id="{A52C1C19-12A9-4F33-9CD9-D52FF505A3D7}"/>
              </a:ext>
            </a:extLst>
          </p:cNvPr>
          <p:cNvSpPr>
            <a:spLocks noGrp="1"/>
          </p:cNvSpPr>
          <p:nvPr>
            <p:ph type="subTitle" idx="1"/>
          </p:nvPr>
        </p:nvSpPr>
        <p:spPr>
          <a:xfrm>
            <a:off x="180000" y="2153487"/>
            <a:ext cx="8280000" cy="2758848"/>
          </a:xfrm>
        </p:spPr>
        <p:txBody>
          <a:bodyPr>
            <a:normAutofit lnSpcReduction="10000"/>
          </a:bodyPr>
          <a:lstStyle/>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本研究預期</a:t>
            </a: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能比 </a:t>
            </a:r>
            <a:r>
              <a:rPr lang="en-US" altLang="zh-TW" dirty="0">
                <a:latin typeface="微軟正黑體" panose="020B0604030504040204" pitchFamily="34" charset="-120"/>
                <a:ea typeface="微軟正黑體" panose="020B0604030504040204" pitchFamily="34" charset="-120"/>
              </a:rPr>
              <a:t>Q-learning </a:t>
            </a:r>
            <a:r>
              <a:rPr lang="zh-TW" altLang="en-US" dirty="0">
                <a:latin typeface="微軟正黑體" panose="020B0604030504040204" pitchFamily="34" charset="-120"/>
                <a:ea typeface="微軟正黑體" panose="020B0604030504040204" pitchFamily="34" charset="-120"/>
              </a:rPr>
              <a:t>演算法展現出更佳的表現。</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由於</a:t>
            </a:r>
            <a:r>
              <a:rPr lang="en-US" altLang="zh-TW" dirty="0">
                <a:latin typeface="微軟正黑體" panose="020B0604030504040204" pitchFamily="34" charset="-120"/>
                <a:ea typeface="微軟正黑體" panose="020B0604030504040204" pitchFamily="34" charset="-120"/>
              </a:rPr>
              <a:t>Transformer </a:t>
            </a:r>
            <a:r>
              <a:rPr lang="zh-TW" altLang="en-US" dirty="0">
                <a:latin typeface="微軟正黑體" panose="020B0604030504040204" pitchFamily="34" charset="-120"/>
                <a:ea typeface="微軟正黑體" panose="020B0604030504040204" pitchFamily="34" charset="-120"/>
              </a:rPr>
              <a:t>具備 </a:t>
            </a:r>
            <a:r>
              <a:rPr lang="en-US" altLang="zh-TW" dirty="0">
                <a:latin typeface="微軟正黑體" panose="020B0604030504040204" pitchFamily="34" charset="-120"/>
                <a:ea typeface="微軟正黑體" panose="020B0604030504040204" pitchFamily="34" charset="-120"/>
              </a:rPr>
              <a:t>self-attention </a:t>
            </a:r>
            <a:r>
              <a:rPr lang="zh-TW" altLang="en-US" dirty="0">
                <a:latin typeface="微軟正黑體" panose="020B0604030504040204" pitchFamily="34" charset="-120"/>
                <a:ea typeface="微軟正黑體" panose="020B0604030504040204" pitchFamily="34" charset="-120"/>
              </a:rPr>
              <a:t>機制，理論上可有效發覺長時間序列的關聯性，進而提升對股票價格的預測能力。</a:t>
            </a:r>
            <a:endParaRPr lang="en-US" altLang="zh-TW" dirty="0">
              <a:latin typeface="微軟正黑體" panose="020B0604030504040204" pitchFamily="34" charset="-120"/>
              <a:ea typeface="微軟正黑體" panose="020B0604030504040204" pitchFamily="34" charset="-120"/>
            </a:endParaRPr>
          </a:p>
          <a:p>
            <a:pPr marL="342900" indent="-34290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在此架構下， </a:t>
            </a:r>
            <a:r>
              <a:rPr lang="en-US" altLang="zh-TW" dirty="0">
                <a:latin typeface="微軟正黑體" panose="020B0604030504040204" pitchFamily="34" charset="-120"/>
                <a:ea typeface="微軟正黑體" panose="020B0604030504040204" pitchFamily="34" charset="-120"/>
              </a:rPr>
              <a:t>Q-Transformer </a:t>
            </a:r>
            <a:r>
              <a:rPr lang="zh-TW" altLang="en-US" dirty="0">
                <a:latin typeface="微軟正黑體" panose="020B0604030504040204" pitchFamily="34" charset="-120"/>
                <a:ea typeface="微軟正黑體" panose="020B0604030504040204" pitchFamily="34" charset="-120"/>
              </a:rPr>
              <a:t>應能克服 </a:t>
            </a:r>
            <a:r>
              <a:rPr lang="en-US" altLang="zh-TW" dirty="0">
                <a:latin typeface="微軟正黑體" panose="020B0604030504040204" pitchFamily="34" charset="-120"/>
                <a:ea typeface="微軟正黑體" panose="020B0604030504040204" pitchFamily="34" charset="-120"/>
              </a:rPr>
              <a:t>Q-table </a:t>
            </a:r>
            <a:r>
              <a:rPr lang="zh-TW" altLang="en-US" dirty="0">
                <a:latin typeface="微軟正黑體" panose="020B0604030504040204" pitchFamily="34" charset="-120"/>
                <a:ea typeface="微軟正黑體" panose="020B0604030504040204" pitchFamily="34" charset="-120"/>
              </a:rPr>
              <a:t>在複雜環境中的模型學習能力不足的問題並對多樣化的股票資料具有更好的泛化能力。</a:t>
            </a:r>
          </a:p>
        </p:txBody>
      </p:sp>
      <p:pic>
        <p:nvPicPr>
          <p:cNvPr id="5" name="Picture 2">
            <a:extLst>
              <a:ext uri="{FF2B5EF4-FFF2-40B4-BE49-F238E27FC236}">
                <a16:creationId xmlns:a16="http://schemas.microsoft.com/office/drawing/2014/main" id="{D08872DC-4E3B-46D7-B621-77C2AB5C5EC5}"/>
              </a:ext>
            </a:extLst>
          </p:cNvPr>
          <p:cNvPicPr>
            <a:picLocks/>
          </p:cNvPicPr>
          <p:nvPr/>
        </p:nvPicPr>
        <p:blipFill rotWithShape="1">
          <a:blip r:embed="rId2"/>
          <a:srcRect l="64773" t="24370" r="4289" b="23530"/>
          <a:stretch/>
        </p:blipFill>
        <p:spPr>
          <a:xfrm>
            <a:off x="8460000" y="1822911"/>
            <a:ext cx="3600000" cy="3420000"/>
          </a:xfrm>
          <a:prstGeom prst="rect">
            <a:avLst/>
          </a:prstGeom>
        </p:spPr>
      </p:pic>
    </p:spTree>
    <p:extLst>
      <p:ext uri="{BB962C8B-B14F-4D97-AF65-F5344CB8AC3E}">
        <p14:creationId xmlns:p14="http://schemas.microsoft.com/office/powerpoint/2010/main" val="2397392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AEE11203-C55D-4018-93B4-9946B4D4DE1C}"/>
              </a:ext>
            </a:extLst>
          </p:cNvPr>
          <p:cNvSpPr txBox="1">
            <a:spLocks/>
          </p:cNvSpPr>
          <p:nvPr/>
        </p:nvSpPr>
        <p:spPr>
          <a:xfrm>
            <a:off x="838200" y="231729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7113770-54DC-4383-8CCA-1FFB7D14B080}"/>
              </a:ext>
            </a:extLst>
          </p:cNvPr>
          <p:cNvSpPr txBox="1"/>
          <p:nvPr/>
        </p:nvSpPr>
        <p:spPr>
          <a:xfrm>
            <a:off x="192000" y="1900320"/>
            <a:ext cx="11808000" cy="2862322"/>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[1] </a:t>
            </a:r>
            <a:r>
              <a:rPr lang="en-US" altLang="zh-TW" sz="2000" b="1" dirty="0" err="1">
                <a:latin typeface="微軟正黑體" panose="020B0604030504040204" pitchFamily="34" charset="-120"/>
                <a:ea typeface="微軟正黑體" panose="020B0604030504040204" pitchFamily="34" charset="-120"/>
              </a:rPr>
              <a:t>Mnih</a:t>
            </a:r>
            <a:r>
              <a:rPr lang="en-US" altLang="zh-TW" sz="2000" b="1" dirty="0">
                <a:latin typeface="微軟正黑體" panose="020B0604030504040204" pitchFamily="34" charset="-120"/>
                <a:ea typeface="微軟正黑體" panose="020B0604030504040204" pitchFamily="34" charset="-120"/>
              </a:rPr>
              <a:t> et. al (2015) </a:t>
            </a:r>
            <a:r>
              <a:rPr lang="zh-TW" altLang="en-US" sz="2000" dirty="0">
                <a:latin typeface="微軟正黑體" panose="020B0604030504040204" pitchFamily="34" charset="-120"/>
                <a:ea typeface="微軟正黑體" panose="020B0604030504040204" pitchFamily="34" charset="-120"/>
              </a:rPr>
              <a:t>提出 </a:t>
            </a:r>
            <a:r>
              <a:rPr lang="en-US" altLang="zh-TW" sz="2000" dirty="0">
                <a:latin typeface="微軟正黑體" panose="020B0604030504040204" pitchFamily="34" charset="-120"/>
                <a:ea typeface="微軟正黑體" panose="020B0604030504040204" pitchFamily="34" charset="-120"/>
              </a:rPr>
              <a:t>DQN </a:t>
            </a:r>
            <a:r>
              <a:rPr lang="zh-TW" altLang="en-US" sz="2000" dirty="0">
                <a:latin typeface="微軟正黑體" panose="020B0604030504040204" pitchFamily="34" charset="-120"/>
                <a:ea typeface="微軟正黑體" panose="020B0604030504040204" pitchFamily="34" charset="-120"/>
              </a:rPr>
              <a:t>架構，用神經網路逼近 </a:t>
            </a:r>
            <a:r>
              <a:rPr lang="en-US" altLang="zh-TW" sz="2000" dirty="0">
                <a:latin typeface="微軟正黑體" panose="020B0604030504040204" pitchFamily="34" charset="-120"/>
                <a:ea typeface="微軟正黑體" panose="020B0604030504040204" pitchFamily="34" charset="-120"/>
              </a:rPr>
              <a:t>Q </a:t>
            </a:r>
            <a:r>
              <a:rPr lang="zh-TW" altLang="en-US" sz="2000" dirty="0">
                <a:latin typeface="微軟正黑體" panose="020B0604030504040204" pitchFamily="34" charset="-120"/>
                <a:ea typeface="微軟正黑體" panose="020B0604030504040204" pitchFamily="34" charset="-120"/>
              </a:rPr>
              <a:t>函數，並引入 </a:t>
            </a:r>
            <a:r>
              <a:rPr lang="en-US" altLang="zh-TW" sz="2000" dirty="0">
                <a:latin typeface="微軟正黑體" panose="020B0604030504040204" pitchFamily="34" charset="-120"/>
                <a:ea typeface="微軟正黑體" panose="020B0604030504040204" pitchFamily="34" charset="-120"/>
              </a:rPr>
              <a:t>Experience Replay </a:t>
            </a:r>
            <a:r>
              <a:rPr lang="zh-TW" altLang="en-US" sz="2000" dirty="0">
                <a:latin typeface="微軟正黑體" panose="020B0604030504040204" pitchFamily="34" charset="-120"/>
                <a:ea typeface="微軟正黑體" panose="020B0604030504040204" pitchFamily="34" charset="-120"/>
              </a:rPr>
              <a:t>與 </a:t>
            </a:r>
            <a:r>
              <a:rPr lang="en-US" altLang="zh-TW" sz="2000" dirty="0">
                <a:latin typeface="微軟正黑體" panose="020B0604030504040204" pitchFamily="34" charset="-120"/>
                <a:ea typeface="微軟正黑體" panose="020B0604030504040204" pitchFamily="34" charset="-120"/>
              </a:rPr>
              <a:t>Target Network </a:t>
            </a:r>
            <a:r>
              <a:rPr lang="zh-TW" altLang="en-US" sz="2000" dirty="0">
                <a:latin typeface="微軟正黑體" panose="020B0604030504040204" pitchFamily="34" charset="-120"/>
                <a:ea typeface="微軟正黑體" panose="020B0604030504040204" pitchFamily="34" charset="-120"/>
              </a:rPr>
              <a:t>解決訓練不穩定問題。我們的方法本質上就是把這篇的 </a:t>
            </a:r>
            <a:r>
              <a:rPr lang="en-US" altLang="zh-TW" sz="2000" dirty="0">
                <a:latin typeface="微軟正黑體" panose="020B0604030504040204" pitchFamily="34" charset="-120"/>
                <a:ea typeface="微軟正黑體" panose="020B0604030504040204" pitchFamily="34" charset="-120"/>
              </a:rPr>
              <a:t>Q-Network </a:t>
            </a:r>
            <a:r>
              <a:rPr lang="zh-TW" altLang="en-US" sz="2000" dirty="0">
                <a:latin typeface="微軟正黑體" panose="020B0604030504040204" pitchFamily="34" charset="-120"/>
                <a:ea typeface="微軟正黑體" panose="020B0604030504040204" pitchFamily="34" charset="-120"/>
              </a:rPr>
              <a:t>換成 </a:t>
            </a:r>
            <a:r>
              <a:rPr lang="en-US" altLang="zh-TW" sz="2000" dirty="0">
                <a:latin typeface="微軟正黑體" panose="020B0604030504040204" pitchFamily="34" charset="-120"/>
                <a:ea typeface="微軟正黑體" panose="020B0604030504040204" pitchFamily="34" charset="-120"/>
              </a:rPr>
              <a:t>Transformer</a:t>
            </a:r>
            <a:r>
              <a:rPr lang="zh-TW" altLang="en-US"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[2] Vaswani et. al (2017) </a:t>
            </a:r>
            <a:r>
              <a:rPr lang="zh-TW" altLang="en-US" sz="2000" dirty="0">
                <a:latin typeface="微軟正黑體" panose="020B0604030504040204" pitchFamily="34" charset="-120"/>
                <a:ea typeface="微軟正黑體" panose="020B0604030504040204" pitchFamily="34" charset="-120"/>
              </a:rPr>
              <a:t>提出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架構，以 </a:t>
            </a:r>
            <a:r>
              <a:rPr lang="en-US" altLang="zh-TW" sz="2000" dirty="0">
                <a:latin typeface="微軟正黑體" panose="020B0604030504040204" pitchFamily="34" charset="-120"/>
                <a:ea typeface="微軟正黑體" panose="020B0604030504040204" pitchFamily="34" charset="-120"/>
              </a:rPr>
              <a:t>Multi-Head Self-Attention </a:t>
            </a:r>
            <a:r>
              <a:rPr lang="zh-TW" altLang="en-US" sz="2000" dirty="0">
                <a:latin typeface="微軟正黑體" panose="020B0604030504040204" pitchFamily="34" charset="-120"/>
                <a:ea typeface="微軟正黑體" panose="020B0604030504040204" pitchFamily="34" charset="-120"/>
              </a:rPr>
              <a:t>完全取代 </a:t>
            </a:r>
            <a:r>
              <a:rPr lang="en-US" altLang="zh-TW" sz="2000" dirty="0">
                <a:latin typeface="微軟正黑體" panose="020B0604030504040204" pitchFamily="34" charset="-120"/>
                <a:ea typeface="微軟正黑體" panose="020B0604030504040204" pitchFamily="34" charset="-120"/>
              </a:rPr>
              <a:t>RNN</a:t>
            </a:r>
            <a:r>
              <a:rPr lang="zh-TW" altLang="en-US" sz="2000" dirty="0">
                <a:latin typeface="微軟正黑體" panose="020B0604030504040204" pitchFamily="34" charset="-120"/>
                <a:ea typeface="微軟正黑體" panose="020B0604030504040204" pitchFamily="34" charset="-120"/>
              </a:rPr>
              <a:t>，能直接建模序列中任意兩個位置的依賴關係。我們⽤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取代 </a:t>
            </a:r>
            <a:r>
              <a:rPr lang="en-US" altLang="zh-TW" sz="2000" dirty="0">
                <a:latin typeface="微軟正黑體" panose="020B0604030504040204" pitchFamily="34" charset="-120"/>
                <a:ea typeface="微軟正黑體" panose="020B0604030504040204" pitchFamily="34" charset="-120"/>
              </a:rPr>
              <a:t>DQN </a:t>
            </a:r>
            <a:r>
              <a:rPr lang="zh-TW" altLang="en-US" sz="2000" dirty="0">
                <a:latin typeface="微軟正黑體" panose="020B0604030504040204" pitchFamily="34" charset="-120"/>
                <a:ea typeface="微軟正黑體" panose="020B0604030504040204" pitchFamily="34" charset="-120"/>
              </a:rPr>
              <a:t>的 </a:t>
            </a:r>
            <a:r>
              <a:rPr lang="en-US" altLang="zh-TW" sz="2000" dirty="0">
                <a:latin typeface="微軟正黑體" panose="020B0604030504040204" pitchFamily="34" charset="-120"/>
                <a:ea typeface="微軟正黑體" panose="020B0604030504040204" pitchFamily="34" charset="-120"/>
              </a:rPr>
              <a:t>Q-Network</a:t>
            </a:r>
            <a:r>
              <a:rPr lang="zh-TW" altLang="en-US"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[3] </a:t>
            </a:r>
            <a:r>
              <a:rPr lang="en-US" altLang="zh-TW" sz="2000" b="1" dirty="0" err="1">
                <a:latin typeface="微軟正黑體" panose="020B0604030504040204" pitchFamily="34" charset="-120"/>
                <a:ea typeface="微軟正黑體" panose="020B0604030504040204" pitchFamily="34" charset="-120"/>
              </a:rPr>
              <a:t>Théate</a:t>
            </a:r>
            <a:r>
              <a:rPr lang="en-US" altLang="zh-TW" sz="2000" b="1" dirty="0">
                <a:latin typeface="微軟正黑體" panose="020B0604030504040204" pitchFamily="34" charset="-120"/>
                <a:ea typeface="微軟正黑體" panose="020B0604030504040204" pitchFamily="34" charset="-120"/>
              </a:rPr>
              <a:t> &amp; Ernst  (2021) </a:t>
            </a:r>
            <a:r>
              <a:rPr lang="zh-TW" altLang="en-US" sz="2000" dirty="0">
                <a:latin typeface="微軟正黑體" panose="020B0604030504040204" pitchFamily="34" charset="-120"/>
                <a:ea typeface="微軟正黑體" panose="020B0604030504040204" pitchFamily="34" charset="-120"/>
              </a:rPr>
              <a:t>提出 </a:t>
            </a:r>
            <a:r>
              <a:rPr lang="en-US" altLang="zh-TW" sz="2000" dirty="0">
                <a:latin typeface="微軟正黑體" panose="020B0604030504040204" pitchFamily="34" charset="-120"/>
                <a:ea typeface="微軟正黑體" panose="020B0604030504040204" pitchFamily="34" charset="-120"/>
              </a:rPr>
              <a:t>TDQN</a:t>
            </a:r>
            <a:r>
              <a:rPr lang="zh-TW" altLang="en-US" sz="2000" dirty="0">
                <a:latin typeface="微軟正黑體" panose="020B0604030504040204" pitchFamily="34" charset="-120"/>
                <a:ea typeface="微軟正黑體" panose="020B0604030504040204" pitchFamily="34" charset="-120"/>
              </a:rPr>
              <a:t>，專⾨針對股市交易設計</a:t>
            </a:r>
            <a:r>
              <a:rPr lang="en-US" altLang="zh-TW" sz="2000" dirty="0">
                <a:latin typeface="微軟正黑體" panose="020B0604030504040204" pitchFamily="34" charset="-120"/>
                <a:ea typeface="微軟正黑體" panose="020B0604030504040204" pitchFamily="34" charset="-120"/>
              </a:rPr>
              <a:t>DQN </a:t>
            </a:r>
            <a:r>
              <a:rPr lang="zh-TW" altLang="en-US" sz="2000" dirty="0">
                <a:latin typeface="微軟正黑體" panose="020B0604030504040204" pitchFamily="34" charset="-120"/>
                <a:ea typeface="微軟正黑體" panose="020B0604030504040204" pitchFamily="34" charset="-120"/>
              </a:rPr>
              <a:t>變體，以最⼤化 </a:t>
            </a:r>
            <a:r>
              <a:rPr lang="en-US" altLang="zh-TW" sz="2000" dirty="0">
                <a:latin typeface="微軟正黑體" panose="020B0604030504040204" pitchFamily="34" charset="-120"/>
                <a:ea typeface="微軟正黑體" panose="020B0604030504040204" pitchFamily="34" charset="-120"/>
              </a:rPr>
              <a:t>Sharpe Ratio </a:t>
            </a:r>
            <a:r>
              <a:rPr lang="zh-TW" altLang="en-US" sz="2000" dirty="0">
                <a:latin typeface="微軟正黑體" panose="020B0604030504040204" pitchFamily="34" charset="-120"/>
                <a:ea typeface="微軟正黑體" panose="020B0604030504040204" pitchFamily="34" charset="-120"/>
              </a:rPr>
              <a:t>為獎勵，在 </a:t>
            </a:r>
            <a:r>
              <a:rPr lang="en-US" altLang="zh-TW" sz="2000" dirty="0">
                <a:latin typeface="微軟正黑體" panose="020B0604030504040204" pitchFamily="34" charset="-120"/>
                <a:ea typeface="微軟正黑體" panose="020B0604030504040204" pitchFamily="34" charset="-120"/>
              </a:rPr>
              <a:t>30 ⽀</a:t>
            </a:r>
            <a:r>
              <a:rPr lang="zh-TW" altLang="en-US" sz="2000" dirty="0">
                <a:latin typeface="微軟正黑體" panose="020B0604030504040204" pitchFamily="34" charset="-120"/>
                <a:ea typeface="微軟正黑體" panose="020B0604030504040204" pitchFamily="34" charset="-120"/>
              </a:rPr>
              <a:t>股票上驗證效果。這是「</a:t>
            </a:r>
            <a:r>
              <a:rPr lang="en-US" altLang="zh-TW" sz="2000" dirty="0">
                <a:latin typeface="微軟正黑體" panose="020B0604030504040204" pitchFamily="34" charset="-120"/>
                <a:ea typeface="微軟正黑體" panose="020B0604030504040204" pitchFamily="34" charset="-120"/>
              </a:rPr>
              <a:t>DQN </a:t>
            </a:r>
            <a:r>
              <a:rPr lang="zh-TW" altLang="en-US" sz="2000" dirty="0">
                <a:latin typeface="微軟正黑體" panose="020B0604030504040204" pitchFamily="34" charset="-120"/>
                <a:ea typeface="微軟正黑體" panose="020B0604030504040204" pitchFamily="34" charset="-120"/>
              </a:rPr>
              <a:t>⽤於股市」這條線最核⼼的 </a:t>
            </a:r>
            <a:r>
              <a:rPr lang="en-US" altLang="zh-TW" sz="2000" dirty="0">
                <a:latin typeface="微軟正黑體" panose="020B0604030504040204" pitchFamily="34" charset="-120"/>
                <a:ea typeface="微軟正黑體" panose="020B0604030504040204" pitchFamily="34" charset="-120"/>
              </a:rPr>
              <a:t>baseline</a:t>
            </a:r>
            <a:r>
              <a:rPr lang="zh-TW" altLang="en-US" sz="2000" dirty="0">
                <a:latin typeface="微軟正黑體" panose="020B0604030504040204" pitchFamily="34" charset="-120"/>
                <a:ea typeface="微軟正黑體" panose="020B0604030504040204" pitchFamily="34" charset="-120"/>
              </a:rPr>
              <a:t>。我們的⼯作可以視為在 </a:t>
            </a:r>
            <a:r>
              <a:rPr lang="en-US" altLang="zh-TW" sz="2000" dirty="0">
                <a:latin typeface="微軟正黑體" panose="020B0604030504040204" pitchFamily="34" charset="-120"/>
                <a:ea typeface="微軟正黑體" panose="020B0604030504040204" pitchFamily="34" charset="-120"/>
              </a:rPr>
              <a:t>TDQN </a:t>
            </a:r>
            <a:r>
              <a:rPr lang="zh-TW" altLang="en-US" sz="2000" dirty="0">
                <a:latin typeface="微軟正黑體" panose="020B0604030504040204" pitchFamily="34" charset="-120"/>
                <a:ea typeface="微軟正黑體" panose="020B0604030504040204" pitchFamily="34" charset="-120"/>
              </a:rPr>
              <a:t>的框架上將 </a:t>
            </a:r>
            <a:r>
              <a:rPr lang="en-US" altLang="zh-TW" sz="2000" dirty="0">
                <a:latin typeface="微軟正黑體" panose="020B0604030504040204" pitchFamily="34" charset="-120"/>
                <a:ea typeface="微軟正黑體" panose="020B0604030504040204" pitchFamily="34" charset="-120"/>
              </a:rPr>
              <a:t>Q-Network </a:t>
            </a:r>
            <a:r>
              <a:rPr lang="zh-TW" altLang="en-US" sz="2000" dirty="0">
                <a:latin typeface="微軟正黑體" panose="020B0604030504040204" pitchFamily="34" charset="-120"/>
                <a:ea typeface="微軟正黑體" panose="020B0604030504040204" pitchFamily="34" charset="-120"/>
              </a:rPr>
              <a:t>升級為</a:t>
            </a:r>
            <a:r>
              <a:rPr lang="en-US" altLang="zh-TW" sz="2000" dirty="0">
                <a:latin typeface="微軟正黑體" panose="020B0604030504040204" pitchFamily="34" charset="-120"/>
                <a:ea typeface="微軟正黑體" panose="020B0604030504040204" pitchFamily="34" charset="-120"/>
              </a:rPr>
              <a:t>Transformer</a:t>
            </a:r>
            <a:r>
              <a:rPr lang="zh-TW" altLang="en-US" sz="2000" dirty="0">
                <a:latin typeface="微軟正黑體" panose="020B0604030504040204" pitchFamily="34" charset="-120"/>
                <a:ea typeface="微軟正黑體" panose="020B0604030504040204" pitchFamily="34" charset="-120"/>
              </a:rPr>
              <a:t>。</a:t>
            </a:r>
          </a:p>
        </p:txBody>
      </p:sp>
      <p:sp>
        <p:nvSpPr>
          <p:cNvPr id="6" name="標題 1">
            <a:extLst>
              <a:ext uri="{FF2B5EF4-FFF2-40B4-BE49-F238E27FC236}">
                <a16:creationId xmlns:a16="http://schemas.microsoft.com/office/drawing/2014/main" id="{0E7F992A-5745-A793-4033-7144C21C1565}"/>
              </a:ext>
            </a:extLst>
          </p:cNvPr>
          <p:cNvSpPr>
            <a:spLocks noGrp="1"/>
          </p:cNvSpPr>
          <p:nvPr>
            <p:ph type="title"/>
          </p:nvPr>
        </p:nvSpPr>
        <p:spPr>
          <a:xfrm>
            <a:off x="0" y="365125"/>
            <a:ext cx="12192000" cy="1325563"/>
          </a:xfrm>
        </p:spPr>
        <p:txBody>
          <a:bodyPr/>
          <a:lstStyle/>
          <a:p>
            <a:pPr algn="ctr"/>
            <a:r>
              <a:rPr lang="en-US" altLang="zh-TW" b="1" dirty="0">
                <a:latin typeface="微軟正黑體" panose="020B0604030504040204" pitchFamily="34" charset="-120"/>
                <a:ea typeface="微軟正黑體" panose="020B0604030504040204" pitchFamily="34" charset="-120"/>
              </a:rPr>
              <a:t>Related work</a:t>
            </a:r>
            <a:endParaRPr lang="zh-TW" altLang="en-US" b="1"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5BE35CFC-1D4B-1A59-990D-02CBFFC3C1B7}"/>
              </a:ext>
            </a:extLst>
          </p:cNvPr>
          <p:cNvSpPr txBox="1"/>
          <p:nvPr/>
        </p:nvSpPr>
        <p:spPr>
          <a:xfrm>
            <a:off x="192000" y="5882424"/>
            <a:ext cx="11808000" cy="900246"/>
          </a:xfrm>
          <a:prstGeom prst="rect">
            <a:avLst/>
          </a:prstGeom>
          <a:noFill/>
        </p:spPr>
        <p:txBody>
          <a:bodyPr wrap="square" rtlCol="0">
            <a:spAutoFit/>
          </a:bodyPr>
          <a:lstStyle/>
          <a:p>
            <a:r>
              <a:rPr lang="en-US" altLang="zh-TW" sz="1050" dirty="0">
                <a:latin typeface="微軟正黑體" panose="020B0604030504040204" pitchFamily="34" charset="-120"/>
                <a:ea typeface="微軟正黑體" panose="020B0604030504040204" pitchFamily="34" charset="-120"/>
              </a:rPr>
              <a:t>[1] </a:t>
            </a:r>
            <a:r>
              <a:rPr lang="en-US" altLang="zh-TW" sz="1050" dirty="0" err="1">
                <a:latin typeface="微軟正黑體" panose="020B0604030504040204" pitchFamily="34" charset="-120"/>
                <a:ea typeface="微軟正黑體" panose="020B0604030504040204" pitchFamily="34" charset="-120"/>
              </a:rPr>
              <a:t>Mnih</a:t>
            </a:r>
            <a:r>
              <a:rPr lang="en-US" altLang="zh-TW" sz="1050" dirty="0">
                <a:latin typeface="微軟正黑體" panose="020B0604030504040204" pitchFamily="34" charset="-120"/>
                <a:ea typeface="微軟正黑體" panose="020B0604030504040204" pitchFamily="34" charset="-120"/>
              </a:rPr>
              <a:t>, V., </a:t>
            </a:r>
            <a:r>
              <a:rPr lang="en-US" altLang="zh-TW" sz="1050" dirty="0" err="1">
                <a:latin typeface="微軟正黑體" panose="020B0604030504040204" pitchFamily="34" charset="-120"/>
                <a:ea typeface="微軟正黑體" panose="020B0604030504040204" pitchFamily="34" charset="-120"/>
              </a:rPr>
              <a:t>Kavukcuoglu</a:t>
            </a:r>
            <a:r>
              <a:rPr lang="en-US" altLang="zh-TW" sz="1050" dirty="0">
                <a:latin typeface="微軟正黑體" panose="020B0604030504040204" pitchFamily="34" charset="-120"/>
                <a:ea typeface="微軟正黑體" panose="020B0604030504040204" pitchFamily="34" charset="-120"/>
              </a:rPr>
              <a:t>, K., Silver, D., Rusu, A. A., </a:t>
            </a:r>
            <a:r>
              <a:rPr lang="en-US" altLang="zh-TW" sz="1050" dirty="0" err="1">
                <a:latin typeface="微軟正黑體" panose="020B0604030504040204" pitchFamily="34" charset="-120"/>
                <a:ea typeface="微軟正黑體" panose="020B0604030504040204" pitchFamily="34" charset="-120"/>
              </a:rPr>
              <a:t>Veness</a:t>
            </a:r>
            <a:r>
              <a:rPr lang="en-US" altLang="zh-TW" sz="1050" dirty="0">
                <a:latin typeface="微軟正黑體" panose="020B0604030504040204" pitchFamily="34" charset="-120"/>
                <a:ea typeface="微軟正黑體" panose="020B0604030504040204" pitchFamily="34" charset="-120"/>
              </a:rPr>
              <a:t>, J., Bellemare, M. G., ... &amp; Hassabis, D. (2015). Human-level control through deep reinforcement learning. nature, 518(7540), 529-533.</a:t>
            </a:r>
          </a:p>
          <a:p>
            <a:r>
              <a:rPr lang="en-US" altLang="zh-TW" sz="1050" dirty="0">
                <a:latin typeface="微軟正黑體" panose="020B0604030504040204" pitchFamily="34" charset="-120"/>
                <a:ea typeface="微軟正黑體" panose="020B0604030504040204" pitchFamily="34" charset="-120"/>
              </a:rPr>
              <a:t>[2] Vaswani, A., </a:t>
            </a:r>
            <a:r>
              <a:rPr lang="en-US" altLang="zh-TW" sz="1050" dirty="0" err="1">
                <a:latin typeface="微軟正黑體" panose="020B0604030504040204" pitchFamily="34" charset="-120"/>
                <a:ea typeface="微軟正黑體" panose="020B0604030504040204" pitchFamily="34" charset="-120"/>
              </a:rPr>
              <a:t>Shazeer</a:t>
            </a:r>
            <a:r>
              <a:rPr lang="en-US" altLang="zh-TW" sz="1050" dirty="0">
                <a:latin typeface="微軟正黑體" panose="020B0604030504040204" pitchFamily="34" charset="-120"/>
                <a:ea typeface="微軟正黑體" panose="020B0604030504040204" pitchFamily="34" charset="-120"/>
              </a:rPr>
              <a:t>, N., Parmar, N., </a:t>
            </a:r>
            <a:r>
              <a:rPr lang="en-US" altLang="zh-TW" sz="1050" dirty="0" err="1">
                <a:latin typeface="微軟正黑體" panose="020B0604030504040204" pitchFamily="34" charset="-120"/>
                <a:ea typeface="微軟正黑體" panose="020B0604030504040204" pitchFamily="34" charset="-120"/>
              </a:rPr>
              <a:t>Uszkoreit</a:t>
            </a:r>
            <a:r>
              <a:rPr lang="en-US" altLang="zh-TW" sz="1050" dirty="0">
                <a:latin typeface="微軟正黑體" panose="020B0604030504040204" pitchFamily="34" charset="-120"/>
                <a:ea typeface="微軟正黑體" panose="020B0604030504040204" pitchFamily="34" charset="-120"/>
              </a:rPr>
              <a:t>, J., Jones, L., Gomez, A. N., ... &amp; </a:t>
            </a:r>
            <a:r>
              <a:rPr lang="en-US" altLang="zh-TW" sz="1050" dirty="0" err="1">
                <a:latin typeface="微軟正黑體" panose="020B0604030504040204" pitchFamily="34" charset="-120"/>
                <a:ea typeface="微軟正黑體" panose="020B0604030504040204" pitchFamily="34" charset="-120"/>
              </a:rPr>
              <a:t>Polosukhin</a:t>
            </a:r>
            <a:r>
              <a:rPr lang="en-US" altLang="zh-TW" sz="1050" dirty="0">
                <a:latin typeface="微軟正黑體" panose="020B0604030504040204" pitchFamily="34" charset="-120"/>
                <a:ea typeface="微軟正黑體" panose="020B0604030504040204" pitchFamily="34" charset="-120"/>
              </a:rPr>
              <a:t>, I. (2017). Attention is all you</a:t>
            </a:r>
            <a:r>
              <a:rPr lang="zh-TW" altLang="en-US" sz="1050" dirty="0">
                <a:latin typeface="微軟正黑體" panose="020B0604030504040204" pitchFamily="34" charset="-120"/>
                <a:ea typeface="微軟正黑體" panose="020B0604030504040204" pitchFamily="34" charset="-120"/>
              </a:rPr>
              <a:t> </a:t>
            </a:r>
            <a:r>
              <a:rPr lang="en-US" altLang="zh-TW" sz="1050" dirty="0">
                <a:latin typeface="微軟正黑體" panose="020B0604030504040204" pitchFamily="34" charset="-120"/>
                <a:ea typeface="微軟正黑體" panose="020B0604030504040204" pitchFamily="34" charset="-120"/>
              </a:rPr>
              <a:t>need. Advances in neural information processing systems, 30.</a:t>
            </a:r>
          </a:p>
          <a:p>
            <a:r>
              <a:rPr lang="en-US" altLang="zh-TW" sz="1050" dirty="0">
                <a:latin typeface="微軟正黑體" panose="020B0604030504040204" pitchFamily="34" charset="-120"/>
                <a:ea typeface="微軟正黑體" panose="020B0604030504040204" pitchFamily="34" charset="-120"/>
              </a:rPr>
              <a:t>[3] </a:t>
            </a:r>
            <a:r>
              <a:rPr lang="en-US" altLang="zh-TW" sz="1050" dirty="0" err="1">
                <a:latin typeface="微軟正黑體" panose="020B0604030504040204" pitchFamily="34" charset="-120"/>
                <a:ea typeface="微軟正黑體" panose="020B0604030504040204" pitchFamily="34" charset="-120"/>
              </a:rPr>
              <a:t>Théate</a:t>
            </a:r>
            <a:r>
              <a:rPr lang="en-US" altLang="zh-TW" sz="1050" dirty="0">
                <a:latin typeface="微軟正黑體" panose="020B0604030504040204" pitchFamily="34" charset="-120"/>
                <a:ea typeface="微軟正黑體" panose="020B0604030504040204" pitchFamily="34" charset="-120"/>
              </a:rPr>
              <a:t>, T., &amp; Ernst, D. (2021). An application of deep reinforcement learning to algorithmic </a:t>
            </a:r>
          </a:p>
          <a:p>
            <a:r>
              <a:rPr lang="en-US" altLang="zh-TW" sz="1050" dirty="0">
                <a:latin typeface="微軟正黑體" panose="020B0604030504040204" pitchFamily="34" charset="-120"/>
                <a:ea typeface="微軟正黑體" panose="020B0604030504040204" pitchFamily="34" charset="-120"/>
              </a:rPr>
              <a:t>trading. Expert systems with applications, 173, 114632.</a:t>
            </a:r>
          </a:p>
        </p:txBody>
      </p:sp>
    </p:spTree>
    <p:extLst>
      <p:ext uri="{BB962C8B-B14F-4D97-AF65-F5344CB8AC3E}">
        <p14:creationId xmlns:p14="http://schemas.microsoft.com/office/powerpoint/2010/main" val="3752298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56EBE-37AF-B86C-2BC4-E01D9DF247E6}"/>
            </a:ext>
          </a:extLst>
        </p:cNvPr>
        <p:cNvGrpSpPr/>
        <p:nvPr/>
      </p:nvGrpSpPr>
      <p:grpSpPr>
        <a:xfrm>
          <a:off x="0" y="0"/>
          <a:ext cx="0" cy="0"/>
          <a:chOff x="0" y="0"/>
          <a:chExt cx="0" cy="0"/>
        </a:xfrm>
      </p:grpSpPr>
      <p:sp>
        <p:nvSpPr>
          <p:cNvPr id="7" name="標題 1">
            <a:extLst>
              <a:ext uri="{FF2B5EF4-FFF2-40B4-BE49-F238E27FC236}">
                <a16:creationId xmlns:a16="http://schemas.microsoft.com/office/drawing/2014/main" id="{11F45329-4861-0413-181A-53962FFE7479}"/>
              </a:ext>
            </a:extLst>
          </p:cNvPr>
          <p:cNvSpPr txBox="1">
            <a:spLocks/>
          </p:cNvSpPr>
          <p:nvPr/>
        </p:nvSpPr>
        <p:spPr>
          <a:xfrm>
            <a:off x="838200" y="231729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295B0B05-91BC-86F6-FC6F-01672511B7C7}"/>
              </a:ext>
            </a:extLst>
          </p:cNvPr>
          <p:cNvSpPr txBox="1"/>
          <p:nvPr/>
        </p:nvSpPr>
        <p:spPr>
          <a:xfrm>
            <a:off x="192000" y="1900320"/>
            <a:ext cx="11808000" cy="2862322"/>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[4] Chen et al.(2021) </a:t>
            </a:r>
            <a:r>
              <a:rPr lang="zh-TW" altLang="en-US" sz="2000" dirty="0">
                <a:latin typeface="微軟正黑體" panose="020B0604030504040204" pitchFamily="34" charset="-120"/>
                <a:ea typeface="微軟正黑體" panose="020B0604030504040204" pitchFamily="34" charset="-120"/>
              </a:rPr>
              <a:t>將 </a:t>
            </a:r>
            <a:r>
              <a:rPr lang="en-US" altLang="zh-TW" sz="2000" dirty="0">
                <a:latin typeface="微軟正黑體" panose="020B0604030504040204" pitchFamily="34" charset="-120"/>
                <a:ea typeface="微軟正黑體" panose="020B0604030504040204" pitchFamily="34" charset="-120"/>
              </a:rPr>
              <a:t>RL </a:t>
            </a:r>
            <a:r>
              <a:rPr lang="zh-TW" altLang="en-US" sz="2000" dirty="0">
                <a:latin typeface="微軟正黑體" panose="020B0604030504040204" pitchFamily="34" charset="-120"/>
                <a:ea typeface="微軟正黑體" panose="020B0604030504040204" pitchFamily="34" charset="-120"/>
              </a:rPr>
              <a:t>重新定義為序列建模問題，⽤ </a:t>
            </a:r>
            <a:r>
              <a:rPr lang="en-US" altLang="zh-TW" sz="2000" dirty="0">
                <a:latin typeface="微軟正黑體" panose="020B0604030504040204" pitchFamily="34" charset="-120"/>
                <a:ea typeface="微軟正黑體" panose="020B0604030504040204" pitchFamily="34" charset="-120"/>
              </a:rPr>
              <a:t>GPT </a:t>
            </a:r>
            <a:r>
              <a:rPr lang="zh-TW" altLang="en-US" sz="2000" dirty="0">
                <a:latin typeface="微軟正黑體" panose="020B0604030504040204" pitchFamily="34" charset="-120"/>
                <a:ea typeface="微軟正黑體" panose="020B0604030504040204" pitchFamily="34" charset="-120"/>
              </a:rPr>
              <a:t>架構輸入（</a:t>
            </a:r>
            <a:r>
              <a:rPr lang="en-US" altLang="zh-TW" sz="2000" dirty="0">
                <a:latin typeface="微軟正黑體" panose="020B0604030504040204" pitchFamily="34" charset="-120"/>
                <a:ea typeface="微軟正黑體" panose="020B0604030504040204" pitchFamily="34" charset="-120"/>
              </a:rPr>
              <a:t>return-to-go, state, action</a:t>
            </a:r>
            <a:r>
              <a:rPr lang="zh-TW" altLang="en-US" sz="2000" dirty="0">
                <a:latin typeface="微軟正黑體" panose="020B0604030504040204" pitchFamily="34" charset="-120"/>
                <a:ea typeface="微軟正黑體" panose="020B0604030504040204" pitchFamily="34" charset="-120"/>
              </a:rPr>
              <a:t>）三元組來預測下⼀步動作，完全捨棄 </a:t>
            </a:r>
            <a:r>
              <a:rPr lang="en-US" altLang="zh-TW" sz="2000" dirty="0">
                <a:latin typeface="微軟正黑體" panose="020B0604030504040204" pitchFamily="34" charset="-120"/>
                <a:ea typeface="微軟正黑體" panose="020B0604030504040204" pitchFamily="34" charset="-120"/>
              </a:rPr>
              <a:t>Bellman </a:t>
            </a:r>
            <a:r>
              <a:rPr lang="zh-TW" altLang="en-US" sz="2000" dirty="0">
                <a:latin typeface="微軟正黑體" panose="020B0604030504040204" pitchFamily="34" charset="-120"/>
                <a:ea typeface="微軟正黑體" panose="020B0604030504040204" pitchFamily="34" charset="-120"/>
              </a:rPr>
              <a:t>⽅程。和我們的題⽬形成對比</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我們是保留 </a:t>
            </a:r>
            <a:r>
              <a:rPr lang="en-US" altLang="zh-TW" sz="2000" dirty="0">
                <a:latin typeface="微軟正黑體" panose="020B0604030504040204" pitchFamily="34" charset="-120"/>
                <a:ea typeface="微軟正黑體" panose="020B0604030504040204" pitchFamily="34" charset="-120"/>
              </a:rPr>
              <a:t>Q-Learning </a:t>
            </a:r>
            <a:r>
              <a:rPr lang="zh-TW" altLang="en-US" sz="2000" dirty="0">
                <a:latin typeface="微軟正黑體" panose="020B0604030504040204" pitchFamily="34" charset="-120"/>
                <a:ea typeface="微軟正黑體" panose="020B0604030504040204" pitchFamily="34" charset="-120"/>
              </a:rPr>
              <a:t>框架、⽤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做特徵提取；</a:t>
            </a:r>
            <a:r>
              <a:rPr lang="en-US" altLang="zh-TW" sz="2000" dirty="0">
                <a:latin typeface="微軟正黑體" panose="020B0604030504040204" pitchFamily="34" charset="-120"/>
                <a:ea typeface="微軟正黑體" panose="020B0604030504040204" pitchFamily="34" charset="-120"/>
              </a:rPr>
              <a:t>Decision Transformer </a:t>
            </a:r>
            <a:r>
              <a:rPr lang="zh-TW" altLang="en-US" sz="2000" dirty="0">
                <a:latin typeface="微軟正黑體" panose="020B0604030504040204" pitchFamily="34" charset="-120"/>
                <a:ea typeface="微軟正黑體" panose="020B0604030504040204" pitchFamily="34" charset="-120"/>
              </a:rPr>
              <a:t>則是直接⽤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取代整個 </a:t>
            </a:r>
            <a:r>
              <a:rPr lang="en-US" altLang="zh-TW" sz="2000" dirty="0">
                <a:latin typeface="微軟正黑體" panose="020B0604030504040204" pitchFamily="34" charset="-120"/>
                <a:ea typeface="微軟正黑體" panose="020B0604030504040204" pitchFamily="34" charset="-120"/>
              </a:rPr>
              <a:t>RL </a:t>
            </a:r>
            <a:r>
              <a:rPr lang="zh-TW" altLang="en-US" sz="2000" dirty="0">
                <a:latin typeface="微軟正黑體" panose="020B0604030504040204" pitchFamily="34" charset="-120"/>
                <a:ea typeface="微軟正黑體" panose="020B0604030504040204" pitchFamily="34" charset="-120"/>
              </a:rPr>
              <a:t>訓練邏輯。</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[5] Lim et al. (2021) </a:t>
            </a:r>
            <a:r>
              <a:rPr lang="en-US" altLang="zh-TW" sz="2000" dirty="0">
                <a:latin typeface="微軟正黑體" panose="020B0604030504040204" pitchFamily="34" charset="-120"/>
                <a:ea typeface="微軟正黑體" panose="020B0604030504040204" pitchFamily="34" charset="-120"/>
              </a:rPr>
              <a:t>TFT </a:t>
            </a:r>
            <a:r>
              <a:rPr lang="zh-TW" altLang="en-US" sz="2000" dirty="0">
                <a:latin typeface="微軟正黑體" panose="020B0604030504040204" pitchFamily="34" charset="-120"/>
                <a:ea typeface="微軟正黑體" panose="020B0604030504040204" pitchFamily="34" charset="-120"/>
              </a:rPr>
              <a:t>是⽬前在⾦融時序預測上最被廣泛引⽤的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模型，結合局部 </a:t>
            </a:r>
            <a:r>
              <a:rPr lang="en-US" altLang="zh-TW" sz="2000" dirty="0">
                <a:latin typeface="微軟正黑體" panose="020B0604030504040204" pitchFamily="34" charset="-120"/>
                <a:ea typeface="微軟正黑體" panose="020B0604030504040204" pitchFamily="34" charset="-120"/>
              </a:rPr>
              <a:t>LSTM </a:t>
            </a:r>
            <a:r>
              <a:rPr lang="zh-TW" altLang="en-US" sz="2000" dirty="0">
                <a:latin typeface="微軟正黑體" panose="020B0604030504040204" pitchFamily="34" charset="-120"/>
                <a:ea typeface="微軟正黑體" panose="020B0604030504040204" pitchFamily="34" charset="-120"/>
              </a:rPr>
              <a:t>與長距離 </a:t>
            </a:r>
            <a:r>
              <a:rPr lang="en-US" altLang="zh-TW" sz="2000" dirty="0">
                <a:latin typeface="微軟正黑體" panose="020B0604030504040204" pitchFamily="34" charset="-120"/>
                <a:ea typeface="微軟正黑體" panose="020B0604030504040204" pitchFamily="34" charset="-120"/>
              </a:rPr>
              <a:t>self-attention</a:t>
            </a:r>
            <a:r>
              <a:rPr lang="zh-TW" altLang="en-US" sz="2000" dirty="0">
                <a:latin typeface="微軟正黑體" panose="020B0604030504040204" pitchFamily="34" charset="-120"/>
                <a:ea typeface="微軟正黑體" panose="020B0604030504040204" pitchFamily="34" charset="-120"/>
              </a:rPr>
              <a:t>，並提供可解釋的注意⼒權重。雖然 </a:t>
            </a:r>
            <a:r>
              <a:rPr lang="en-US" altLang="zh-TW" sz="2000" dirty="0">
                <a:latin typeface="微軟正黑體" panose="020B0604030504040204" pitchFamily="34" charset="-120"/>
                <a:ea typeface="微軟正黑體" panose="020B0604030504040204" pitchFamily="34" charset="-120"/>
              </a:rPr>
              <a:t>TFT </a:t>
            </a:r>
            <a:r>
              <a:rPr lang="zh-TW" altLang="en-US" sz="2000" dirty="0">
                <a:latin typeface="微軟正黑體" panose="020B0604030504040204" pitchFamily="34" charset="-120"/>
                <a:ea typeface="微軟正黑體" panose="020B0604030504040204" pitchFamily="34" charset="-120"/>
              </a:rPr>
              <a:t>本身是監督式預測⽽非 </a:t>
            </a:r>
            <a:r>
              <a:rPr lang="en-US" altLang="zh-TW" sz="2000" dirty="0">
                <a:latin typeface="微軟正黑體" panose="020B0604030504040204" pitchFamily="34" charset="-120"/>
                <a:ea typeface="微軟正黑體" panose="020B0604030504040204" pitchFamily="34" charset="-120"/>
              </a:rPr>
              <a:t>RL</a:t>
            </a:r>
            <a:r>
              <a:rPr lang="zh-TW" altLang="en-US" sz="2000" dirty="0">
                <a:latin typeface="微軟正黑體" panose="020B0604030504040204" pitchFamily="34" charset="-120"/>
                <a:ea typeface="微軟正黑體" panose="020B0604030504040204" pitchFamily="34" charset="-120"/>
              </a:rPr>
              <a:t>，但它的輸入設計（技術指標、靜態特徵、時序特徵的分離處理）對我們設計 </a:t>
            </a:r>
            <a:r>
              <a:rPr lang="en-US" altLang="zh-TW" sz="2000" dirty="0">
                <a:latin typeface="微軟正黑體" panose="020B0604030504040204" pitchFamily="34" charset="-120"/>
                <a:ea typeface="微軟正黑體" panose="020B0604030504040204" pitchFamily="34" charset="-120"/>
              </a:rPr>
              <a:t>Transformer Q-Network </a:t>
            </a:r>
            <a:r>
              <a:rPr lang="zh-TW" altLang="en-US" sz="2000" dirty="0">
                <a:latin typeface="微軟正黑體" panose="020B0604030504040204" pitchFamily="34" charset="-120"/>
                <a:ea typeface="微軟正黑體" panose="020B0604030504040204" pitchFamily="34" charset="-120"/>
              </a:rPr>
              <a:t>的 </a:t>
            </a:r>
            <a:r>
              <a:rPr lang="en-US" altLang="zh-TW" sz="2000" dirty="0">
                <a:latin typeface="微軟正黑體" panose="020B0604030504040204" pitchFamily="34" charset="-120"/>
                <a:ea typeface="微軟正黑體" panose="020B0604030504040204" pitchFamily="34" charset="-120"/>
              </a:rPr>
              <a:t>state representation </a:t>
            </a:r>
            <a:r>
              <a:rPr lang="zh-TW" altLang="en-US" sz="2000" dirty="0">
                <a:latin typeface="微軟正黑體" panose="020B0604030504040204" pitchFamily="34" charset="-120"/>
                <a:ea typeface="微軟正黑體" panose="020B0604030504040204" pitchFamily="34" charset="-120"/>
              </a:rPr>
              <a:t>有直接參考價值。</a:t>
            </a:r>
          </a:p>
        </p:txBody>
      </p:sp>
      <p:sp>
        <p:nvSpPr>
          <p:cNvPr id="6" name="標題 1">
            <a:extLst>
              <a:ext uri="{FF2B5EF4-FFF2-40B4-BE49-F238E27FC236}">
                <a16:creationId xmlns:a16="http://schemas.microsoft.com/office/drawing/2014/main" id="{41693970-889D-6D3D-3D04-304F9A9998DE}"/>
              </a:ext>
            </a:extLst>
          </p:cNvPr>
          <p:cNvSpPr>
            <a:spLocks noGrp="1"/>
          </p:cNvSpPr>
          <p:nvPr>
            <p:ph type="title"/>
          </p:nvPr>
        </p:nvSpPr>
        <p:spPr>
          <a:xfrm>
            <a:off x="0" y="365125"/>
            <a:ext cx="12192000" cy="1325563"/>
          </a:xfrm>
        </p:spPr>
        <p:txBody>
          <a:bodyPr/>
          <a:lstStyle/>
          <a:p>
            <a:pPr algn="ctr"/>
            <a:r>
              <a:rPr lang="en-US" altLang="zh-TW" b="1" dirty="0">
                <a:latin typeface="微軟正黑體" panose="020B0604030504040204" pitchFamily="34" charset="-120"/>
                <a:ea typeface="微軟正黑體" panose="020B0604030504040204" pitchFamily="34" charset="-120"/>
              </a:rPr>
              <a:t>Related work</a:t>
            </a:r>
            <a:endParaRPr lang="zh-TW" altLang="en-US" b="1"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0336AE5F-41AF-5747-B827-A8ACA25EDD8C}"/>
              </a:ext>
            </a:extLst>
          </p:cNvPr>
          <p:cNvSpPr txBox="1"/>
          <p:nvPr/>
        </p:nvSpPr>
        <p:spPr>
          <a:xfrm>
            <a:off x="192000" y="5882424"/>
            <a:ext cx="11808000" cy="738664"/>
          </a:xfrm>
          <a:prstGeom prst="rect">
            <a:avLst/>
          </a:prstGeom>
          <a:noFill/>
        </p:spPr>
        <p:txBody>
          <a:bodyPr wrap="square" rtlCol="0">
            <a:spAutoFit/>
          </a:bodyPr>
          <a:lstStyle/>
          <a:p>
            <a:r>
              <a:rPr lang="en-US" altLang="zh-TW" sz="1050" dirty="0">
                <a:latin typeface="微軟正黑體" panose="020B0604030504040204" pitchFamily="34" charset="-120"/>
                <a:ea typeface="微軟正黑體" panose="020B0604030504040204" pitchFamily="34" charset="-120"/>
              </a:rPr>
              <a:t>[4] Chen, L., Lu, K., Rajeswaran, A., Lee, K., Grover, A., Laskin, M., ... &amp; </a:t>
            </a:r>
            <a:r>
              <a:rPr lang="en-US" altLang="zh-TW" sz="1050" dirty="0" err="1">
                <a:latin typeface="微軟正黑體" panose="020B0604030504040204" pitchFamily="34" charset="-120"/>
                <a:ea typeface="微軟正黑體" panose="020B0604030504040204" pitchFamily="34" charset="-120"/>
              </a:rPr>
              <a:t>Mordatch</a:t>
            </a:r>
            <a:r>
              <a:rPr lang="en-US" altLang="zh-TW" sz="1050" dirty="0">
                <a:latin typeface="微軟正黑體" panose="020B0604030504040204" pitchFamily="34" charset="-120"/>
                <a:ea typeface="微軟正黑體" panose="020B0604030504040204" pitchFamily="34" charset="-120"/>
              </a:rPr>
              <a:t>, I. (2021). Decision transformer: Reinforcement learning via sequence modeling. Advances in neural information processing systems, 34, 15084-15097.</a:t>
            </a:r>
          </a:p>
          <a:p>
            <a:r>
              <a:rPr lang="en-US" altLang="zh-TW" sz="1050" dirty="0">
                <a:latin typeface="微軟正黑體" panose="020B0604030504040204" pitchFamily="34" charset="-120"/>
                <a:ea typeface="微軟正黑體" panose="020B0604030504040204" pitchFamily="34" charset="-120"/>
              </a:rPr>
              <a:t>[5] Lim, B., </a:t>
            </a:r>
            <a:r>
              <a:rPr lang="en-US" altLang="zh-TW" sz="1050" dirty="0" err="1">
                <a:latin typeface="微軟正黑體" panose="020B0604030504040204" pitchFamily="34" charset="-120"/>
                <a:ea typeface="微軟正黑體" panose="020B0604030504040204" pitchFamily="34" charset="-120"/>
              </a:rPr>
              <a:t>Arık</a:t>
            </a:r>
            <a:r>
              <a:rPr lang="en-US" altLang="zh-TW" sz="1050" dirty="0">
                <a:latin typeface="微軟正黑體" panose="020B0604030504040204" pitchFamily="34" charset="-120"/>
                <a:ea typeface="微軟正黑體" panose="020B0604030504040204" pitchFamily="34" charset="-120"/>
              </a:rPr>
              <a:t>, S. Ö., </a:t>
            </a:r>
            <a:r>
              <a:rPr lang="en-US" altLang="zh-TW" sz="1050" dirty="0" err="1">
                <a:latin typeface="微軟正黑體" panose="020B0604030504040204" pitchFamily="34" charset="-120"/>
                <a:ea typeface="微軟正黑體" panose="020B0604030504040204" pitchFamily="34" charset="-120"/>
              </a:rPr>
              <a:t>Loeff</a:t>
            </a:r>
            <a:r>
              <a:rPr lang="en-US" altLang="zh-TW" sz="1050" dirty="0">
                <a:latin typeface="微軟正黑體" panose="020B0604030504040204" pitchFamily="34" charset="-120"/>
                <a:ea typeface="微軟正黑體" panose="020B0604030504040204" pitchFamily="34" charset="-120"/>
              </a:rPr>
              <a:t>, N., &amp; Pfister, T. (2021). Temporal fusion transformers for interpretable multi-horizon time series forecasting. International journal of forecasting, 37(4), 1748-1764.</a:t>
            </a:r>
          </a:p>
        </p:txBody>
      </p:sp>
    </p:spTree>
    <p:extLst>
      <p:ext uri="{BB962C8B-B14F-4D97-AF65-F5344CB8AC3E}">
        <p14:creationId xmlns:p14="http://schemas.microsoft.com/office/powerpoint/2010/main" val="2058931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F464A-AA2D-FF40-9F1C-3433DFA47C7D}"/>
            </a:ext>
          </a:extLst>
        </p:cNvPr>
        <p:cNvGrpSpPr/>
        <p:nvPr/>
      </p:nvGrpSpPr>
      <p:grpSpPr>
        <a:xfrm>
          <a:off x="0" y="0"/>
          <a:ext cx="0" cy="0"/>
          <a:chOff x="0" y="0"/>
          <a:chExt cx="0" cy="0"/>
        </a:xfrm>
      </p:grpSpPr>
      <p:sp>
        <p:nvSpPr>
          <p:cNvPr id="7" name="標題 1">
            <a:extLst>
              <a:ext uri="{FF2B5EF4-FFF2-40B4-BE49-F238E27FC236}">
                <a16:creationId xmlns:a16="http://schemas.microsoft.com/office/drawing/2014/main" id="{991DA45D-662F-EC61-F0ED-52436079D6B8}"/>
              </a:ext>
            </a:extLst>
          </p:cNvPr>
          <p:cNvSpPr txBox="1">
            <a:spLocks/>
          </p:cNvSpPr>
          <p:nvPr/>
        </p:nvSpPr>
        <p:spPr>
          <a:xfrm>
            <a:off x="838200" y="231729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TW" altLang="en-US" b="1"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5EB1E7B-B33E-0DF7-0C75-C1A1739D8400}"/>
              </a:ext>
            </a:extLst>
          </p:cNvPr>
          <p:cNvSpPr txBox="1"/>
          <p:nvPr/>
        </p:nvSpPr>
        <p:spPr>
          <a:xfrm>
            <a:off x="192000" y="1900320"/>
            <a:ext cx="11808000" cy="1938992"/>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[6] Li et al.(2025) </a:t>
            </a:r>
            <a:r>
              <a:rPr lang="zh-TW" altLang="en-US" sz="2000" dirty="0">
                <a:latin typeface="微軟正黑體" panose="020B0604030504040204" pitchFamily="34" charset="-120"/>
                <a:ea typeface="微軟正黑體" panose="020B0604030504040204" pitchFamily="34" charset="-120"/>
              </a:rPr>
              <a:t>這篇和我們的題⽬最為相似，同樣是把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結合 </a:t>
            </a:r>
            <a:r>
              <a:rPr lang="en-US" altLang="zh-TW" sz="2000" dirty="0">
                <a:latin typeface="微軟正黑體" panose="020B0604030504040204" pitchFamily="34" charset="-120"/>
                <a:ea typeface="微軟正黑體" panose="020B0604030504040204" pitchFamily="34" charset="-120"/>
              </a:rPr>
              <a:t>RL </a:t>
            </a:r>
            <a:r>
              <a:rPr lang="zh-TW" altLang="en-US" sz="2000" dirty="0">
                <a:latin typeface="微軟正黑體" panose="020B0604030504040204" pitchFamily="34" charset="-120"/>
                <a:ea typeface="微軟正黑體" panose="020B0604030504040204" pitchFamily="34" charset="-120"/>
              </a:rPr>
              <a:t>⽤於股票交易，並在 </a:t>
            </a:r>
            <a:r>
              <a:rPr lang="en-US" altLang="zh-TW" sz="2000" dirty="0">
                <a:latin typeface="微軟正黑體" panose="020B0604030504040204" pitchFamily="34" charset="-120"/>
                <a:ea typeface="微軟正黑體" panose="020B0604030504040204" pitchFamily="34" charset="-120"/>
              </a:rPr>
              <a:t>CSI-300 </a:t>
            </a:r>
            <a:r>
              <a:rPr lang="zh-TW" altLang="en-US" sz="2000" dirty="0">
                <a:latin typeface="微軟正黑體" panose="020B0604030504040204" pitchFamily="34" charset="-120"/>
                <a:ea typeface="微軟正黑體" panose="020B0604030504040204" pitchFamily="34" charset="-120"/>
              </a:rPr>
              <a:t>資料集上驗證。它設計了雙階段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同時捕捉時間與變數維度的依賴關係，是我們最需要在論⽂中明確比較與區分的直接競爭⼯作。</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[7] </a:t>
            </a:r>
            <a:r>
              <a:rPr lang="en-US" altLang="zh-TW" sz="2000" b="1" dirty="0" err="1">
                <a:latin typeface="微軟正黑體" panose="020B0604030504040204" pitchFamily="34" charset="-120"/>
                <a:ea typeface="微軟正黑體" panose="020B0604030504040204" pitchFamily="34" charset="-120"/>
              </a:rPr>
              <a:t>Agarwalet</a:t>
            </a:r>
            <a:r>
              <a:rPr lang="en-US" altLang="zh-TW" sz="2000" b="1" dirty="0">
                <a:latin typeface="微軟正黑體" panose="020B0604030504040204" pitchFamily="34" charset="-120"/>
                <a:ea typeface="微軟正黑體" panose="020B0604030504040204" pitchFamily="34" charset="-120"/>
              </a:rPr>
              <a:t> al.(2023) </a:t>
            </a:r>
            <a:r>
              <a:rPr lang="zh-TW" altLang="en-US" sz="2000" dirty="0">
                <a:latin typeface="微軟正黑體" panose="020B0604030504040204" pitchFamily="34" charset="-120"/>
                <a:ea typeface="微軟正黑體" panose="020B0604030504040204" pitchFamily="34" charset="-120"/>
              </a:rPr>
              <a:t>系統性整理 </a:t>
            </a:r>
            <a:r>
              <a:rPr lang="en-US" altLang="zh-TW" sz="2000" dirty="0">
                <a:latin typeface="微軟正黑體" panose="020B0604030504040204" pitchFamily="34" charset="-120"/>
                <a:ea typeface="微軟正黑體" panose="020B0604030504040204" pitchFamily="34" charset="-120"/>
              </a:rPr>
              <a:t>Transformer </a:t>
            </a:r>
            <a:r>
              <a:rPr lang="zh-TW" altLang="en-US" sz="2000" dirty="0">
                <a:latin typeface="微軟正黑體" panose="020B0604030504040204" pitchFamily="34" charset="-120"/>
                <a:ea typeface="微軟正黑體" panose="020B0604030504040204" pitchFamily="34" charset="-120"/>
              </a:rPr>
              <a:t>在 </a:t>
            </a:r>
            <a:r>
              <a:rPr lang="en-US" altLang="zh-TW" sz="2000" dirty="0">
                <a:latin typeface="微軟正黑體" panose="020B0604030504040204" pitchFamily="34" charset="-120"/>
                <a:ea typeface="微軟正黑體" panose="020B0604030504040204" pitchFamily="34" charset="-120"/>
              </a:rPr>
              <a:t>RL </a:t>
            </a:r>
            <a:r>
              <a:rPr lang="zh-TW" altLang="en-US" sz="2000" dirty="0">
                <a:latin typeface="微軟正黑體" panose="020B0604030504040204" pitchFamily="34" charset="-120"/>
                <a:ea typeface="微軟正黑體" panose="020B0604030504040204" pitchFamily="34" charset="-120"/>
              </a:rPr>
              <a:t>各環節（</a:t>
            </a:r>
            <a:r>
              <a:rPr lang="en-US" altLang="zh-TW" sz="2000" dirty="0">
                <a:latin typeface="微軟正黑體" panose="020B0604030504040204" pitchFamily="34" charset="-120"/>
                <a:ea typeface="微軟正黑體" panose="020B0604030504040204" pitchFamily="34" charset="-120"/>
              </a:rPr>
              <a:t>representation learning</a:t>
            </a:r>
            <a:r>
              <a:rPr lang="zh-TW" altLang="en-US"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policy optimization</a:t>
            </a:r>
            <a:r>
              <a:rPr lang="zh-TW" altLang="en-US"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world model</a:t>
            </a:r>
            <a:r>
              <a:rPr lang="zh-TW" altLang="en-US" sz="2000" dirty="0">
                <a:latin typeface="微軟正黑體" panose="020B0604030504040204" pitchFamily="34" charset="-120"/>
                <a:ea typeface="微軟正黑體" panose="020B0604030504040204" pitchFamily="34" charset="-120"/>
              </a:rPr>
              <a:t>）的應⽤⽅式與挑戰。</a:t>
            </a:r>
          </a:p>
        </p:txBody>
      </p:sp>
      <p:sp>
        <p:nvSpPr>
          <p:cNvPr id="6" name="標題 1">
            <a:extLst>
              <a:ext uri="{FF2B5EF4-FFF2-40B4-BE49-F238E27FC236}">
                <a16:creationId xmlns:a16="http://schemas.microsoft.com/office/drawing/2014/main" id="{A71C54AC-3F5A-376B-0201-F43933836848}"/>
              </a:ext>
            </a:extLst>
          </p:cNvPr>
          <p:cNvSpPr>
            <a:spLocks noGrp="1"/>
          </p:cNvSpPr>
          <p:nvPr>
            <p:ph type="title"/>
          </p:nvPr>
        </p:nvSpPr>
        <p:spPr>
          <a:xfrm>
            <a:off x="0" y="365125"/>
            <a:ext cx="12192000" cy="1325563"/>
          </a:xfrm>
        </p:spPr>
        <p:txBody>
          <a:bodyPr/>
          <a:lstStyle/>
          <a:p>
            <a:pPr algn="ctr"/>
            <a:r>
              <a:rPr lang="en-US" altLang="zh-TW" b="1" dirty="0">
                <a:latin typeface="微軟正黑體" panose="020B0604030504040204" pitchFamily="34" charset="-120"/>
                <a:ea typeface="微軟正黑體" panose="020B0604030504040204" pitchFamily="34" charset="-120"/>
              </a:rPr>
              <a:t>Related work</a:t>
            </a:r>
            <a:endParaRPr lang="zh-TW" altLang="en-US" b="1" dirty="0">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B9A1BE25-9EE7-5140-7712-50638355FC99}"/>
              </a:ext>
            </a:extLst>
          </p:cNvPr>
          <p:cNvSpPr txBox="1"/>
          <p:nvPr/>
        </p:nvSpPr>
        <p:spPr>
          <a:xfrm>
            <a:off x="192000" y="5882424"/>
            <a:ext cx="11808000" cy="738664"/>
          </a:xfrm>
          <a:prstGeom prst="rect">
            <a:avLst/>
          </a:prstGeom>
          <a:noFill/>
        </p:spPr>
        <p:txBody>
          <a:bodyPr wrap="square" rtlCol="0">
            <a:spAutoFit/>
          </a:bodyPr>
          <a:lstStyle/>
          <a:p>
            <a:r>
              <a:rPr lang="en-US" altLang="zh-TW" sz="1050" dirty="0">
                <a:latin typeface="微軟正黑體" panose="020B0604030504040204" pitchFamily="34" charset="-120"/>
                <a:ea typeface="微軟正黑體" panose="020B0604030504040204" pitchFamily="34" charset="-120"/>
              </a:rPr>
              <a:t>[6] Li, Y., Dong, X., Wu, Z., Gao, J., Zhang, T., &amp; Yu, L. (2025). Reinforcement learning with temporal and variable dependency-aware transformer for stock trading optimization. Neural Networks, 107905.</a:t>
            </a:r>
          </a:p>
          <a:p>
            <a:r>
              <a:rPr lang="en-US" altLang="zh-TW" sz="1050" dirty="0">
                <a:latin typeface="微軟正黑體" panose="020B0604030504040204" pitchFamily="34" charset="-120"/>
                <a:ea typeface="微軟正黑體" panose="020B0604030504040204" pitchFamily="34" charset="-120"/>
              </a:rPr>
              <a:t>[7] Agarwal, P., Rahman, A. A., St-Charles, P. L., Prince, S. J., &amp; Kahou, S. E. (2023). Transformers in </a:t>
            </a:r>
          </a:p>
          <a:p>
            <a:r>
              <a:rPr lang="en-US" altLang="zh-TW" sz="1050" dirty="0">
                <a:latin typeface="微軟正黑體" panose="020B0604030504040204" pitchFamily="34" charset="-120"/>
                <a:ea typeface="微軟正黑體" panose="020B0604030504040204" pitchFamily="34" charset="-120"/>
              </a:rPr>
              <a:t>reinforcement learning: a survey. </a:t>
            </a:r>
            <a:r>
              <a:rPr lang="en-US" altLang="zh-TW" sz="1050" dirty="0" err="1">
                <a:latin typeface="微軟正黑體" panose="020B0604030504040204" pitchFamily="34" charset="-120"/>
                <a:ea typeface="微軟正黑體" panose="020B0604030504040204" pitchFamily="34" charset="-120"/>
              </a:rPr>
              <a:t>arXiv</a:t>
            </a:r>
            <a:r>
              <a:rPr lang="en-US" altLang="zh-TW" sz="1050" dirty="0">
                <a:latin typeface="微軟正黑體" panose="020B0604030504040204" pitchFamily="34" charset="-120"/>
                <a:ea typeface="微軟正黑體" panose="020B0604030504040204" pitchFamily="34" charset="-120"/>
              </a:rPr>
              <a:t> preprint arXiv:2307.05979.</a:t>
            </a:r>
          </a:p>
        </p:txBody>
      </p:sp>
    </p:spTree>
    <p:extLst>
      <p:ext uri="{BB962C8B-B14F-4D97-AF65-F5344CB8AC3E}">
        <p14:creationId xmlns:p14="http://schemas.microsoft.com/office/powerpoint/2010/main" val="290057588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1332</Words>
  <Application>Microsoft Office PowerPoint</Application>
  <PresentationFormat>寬螢幕</PresentationFormat>
  <Paragraphs>45</Paragraphs>
  <Slides>10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微軟正黑體</vt:lpstr>
      <vt:lpstr>Arial</vt:lpstr>
      <vt:lpstr>Calibri</vt:lpstr>
      <vt:lpstr>Calibri Light</vt:lpstr>
      <vt:lpstr>Office 佈景主題</vt:lpstr>
      <vt:lpstr>PowerPoint 簡報</vt:lpstr>
      <vt:lpstr>A.Attention Getter Motivation 動機及引題 </vt:lpstr>
      <vt:lpstr>B.But 挑戰 </vt:lpstr>
      <vt:lpstr>C.Cure 解藥 </vt:lpstr>
      <vt:lpstr>D.Development 我們的方法設計 </vt:lpstr>
      <vt:lpstr>E.Experiments </vt:lpstr>
      <vt:lpstr>F.Findings</vt:lpstr>
      <vt:lpstr>Related work</vt:lpstr>
      <vt:lpstr>Related work</vt:lpstr>
      <vt:lpstr>Related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柏叡 潘</dc:creator>
  <cp:lastModifiedBy>敏心 尤</cp:lastModifiedBy>
  <cp:revision>6</cp:revision>
  <dcterms:created xsi:type="dcterms:W3CDTF">2026-04-19T03:59:52Z</dcterms:created>
  <dcterms:modified xsi:type="dcterms:W3CDTF">2026-04-21T11:48:55Z</dcterms:modified>
</cp:coreProperties>
</file>